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本次汇报面向老师和课题组，介绍当前研究设计，不报告尚未产生的训练效果。研究场景继承上传附件中的数据匮乏交叉口，聚焦单车主动采集交通信息。视觉已按用户要求重做。封面为 AI 生成的概念插图，不表示实际道路、传感器性能或仿真结果。</a:t>
            </a:r>
          </a:p>
          <a:p>
            <a:r>
              <a:t>[Sources]</a:t>
            </a:r>
          </a:p>
          <a:p>
            <a:r>
              <a:t>用户上传资料：-2026 -0318.pdf，立项依据与研究场景。</a:t>
            </a:r>
          </a:p>
          <a:p>
            <a:r>
              <a:t>封面概念插图：本次按项目主题生成。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件将数据匮乏支路、片区和郊县交叉口作为核心背景，讨论固定设备、常规浮动车及无人机采样条件的限制。本页保留与主动探测直接相关的动机，不引入未经核实的设备覆盖率或成本数字。移动探测也存在自身视距与遮挡限制，不能被视为随时可见全局的观察者。</a:t>
            </a:r>
          </a:p>
          <a:p>
            <a:r>
              <a:t>[Sources]</a:t>
            </a:r>
          </a:p>
          <a:p>
            <a:r>
              <a:t>用户上传资料：-2026 -0318.pdf，第1—3页“研究动机与挑战”。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任务拓扑示意，不是测绘地图，箭头仅用于展示路口与各方向的连通关系，并未逐一绘出所有出入车道。实际模型使用车道级有向图，连接遵守路网中合法顺行、换道与转向。目标区的进口车道承担估计评价；外围连接提供返回路径，不要求估计整个外围路网。退出前已有信息会变旧，因而返回入口的选择仍属于探测决策问题。监测队列长度截断范围与越界队列应单独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和B只是解释决策机制的假设例子，不是实验结果。宽区间本身不能证明驶向该方向必有信息增益，收益还取决于可见性、绕行时间及交通动态。因此策略的状态需要估计、年龄和预算，奖励需要与最终任务误差对应。强化学习的作用是学习多步动作的长期效果，其有效性仍需与简单规则和信息贪心策略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方表示在线交互闭环：局部观测更新估计，结构化观测进入策略，动作请求交给驾驶执行器，车辆与其他交通参与者交互后获得下一观测。下方是训练评价与优化：估计结果和同期全局标签计算奖励，再使用交互轨迹更新策略参数。全局标签不进入上方策略输入，也不作为在线历史奖励传入策略。首版先固定估计器后训练探测策略；估计器的质量和不确定性校准同样是关键接口，不只是提供奖励。PPO是拟选基线。</a:t>
            </a:r>
          </a:p>
          <a:p/>
          <a:p>
            <a:r>
              <a:t>[Sources]</a:t>
            </a:r>
          </a:p>
          <a:p>
            <a:r>
              <a:t>https://arxiv.org/abs/1707.06347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有限时域 POMDP 包含状态空间、动作空间、转移规律、观测空间与观测模型、奖励、折扣和预算。马尔可夫假设针对补足必要变量后的完整状态 S，不针对单个车道编号。严格信念状态是对完整状态的后验分布；首版采用显式估计摘要作为近似策略输入，有限摘要可能丢失观测历史信息。部分可观测记忆方法仅作为一般依据。</a:t>
            </a:r>
          </a:p>
          <a:p/>
          <a:p>
            <a:r>
              <a:t>[Sources]</a:t>
            </a:r>
          </a:p>
          <a:p>
            <a:r>
              <a:t>https://arxiv.org/abs/1507.06527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此页的执行任务 c 是简写，具体指在线可读取的 c_obs，不是完整系统状态中的全部内部 c。航向用 sinθ、cosθ 表示；类别做类别编码，数值按固定物理尺度归一化。首版固定地图 G 为已知条件。局部可见信息及估计结果可入观测；全局队列标签、全域信号相位和外围拥堵不能因仿真接口可读就直接提供给策略，除非声明真实可用信息来源。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实例仅解释字段，不是训练结果。名义预测区间拟使用5%和95%分位数，其生成与校准待定；区间宽度与信息年龄提示不确定性，但不能直接当作真实误差。纯预测更新不得重置观测年龄。无直接观测时 h=0，使用约定占位。车道级摘要不能表达所有空间可见性差异；如果影响精细选位，可添加带连续位置的观测片段，不必恢复固定小格。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转向请求可以包含必要的提前选道；单独换道必须与已承诺分支兼容。指令提交时解析为绝对车道或具体连接，避免每秒重复相对换道造成目标漂移。存在同方向多连接时采用预先声明的确定规则。允许请求并不保证未来执行成功，驾驶执行器可等待或安全中止。正常纵向驾驶固定，不学习油门与转角；首版安全约束不能仅依靠奖励罚分。</a:t>
            </a:r>
          </a:p>
          <a:p/>
          <a:p>
            <a:r>
              <a:t>[Sources]</a:t>
            </a:r>
          </a:p>
          <a:p>
            <a:r>
              <a:t>https://arxiv.org/abs/2006.14171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连续状态指位置、速度等变量连续取值；SUMO以离散仿真步推进，并不意味着数值仿真是真正连续时间求解。RL交互间隔与仿真积分步长不同。不可改向阶段只允许继续任务，这段时间仍参与长期回报，但单动作阶段没有直接选择梯度。1秒和0.1秒是待验证起点，5秒仅用于举例；实际转向时长依交通状态和控制而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定义各目标车道当前排队长度误差 E(t)=平均绝对误差，e(t)=E(t)/L_ref。目标J=Eπ[α/B∫e(t)dt+βe(B)]；单步奖励r_k=−αΔT_k/B × 本时段平均归一化误差 −末步指示×βe(B)。有限预算取γ=1使累计奖励对应−J。α=β=1只是基线建议，不是已验证最佳权重。所有目标车道都纳入误差，无效输出使用预定最差值。队列定义、监测范围和溢出队列需要固定；更复杂交通状态暂不混入首版。公式与算例见附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O和TraCI是拟采用方案，不表示环境已经实现。TraCI官方文档支持仿真步进、变量读取、车辆和车道相关控制等接口。项目需要自行实现局部传感约束：量程筛选不是完整遮挡模型，首版可用简化几何遮挡并逐步增加噪声，后续再做传感器级验证。SUMO底层驾驶与安全参数需要明确，不能把仿真中的碰撞规避规则直接解释为真实自动驾驶安全保证。</a:t>
            </a:r>
          </a:p>
          <a:p/>
          <a:p>
            <a:r>
              <a:t>[Sources]</a:t>
            </a:r>
          </a:p>
          <a:p>
            <a:r>
              <a:t>https://sumo.dlr.de/docs/TraCI/index.html</a:t>
            </a:r>
          </a:p>
          <a:p>
            <a:r>
              <a:t>https://sumo.dlr.de/docs/TraCI/Interfacing_TraCI_from_Python.html</a:t>
            </a:r>
          </a:p>
          <a:p>
            <a:r>
              <a:t>https://sumo.dlr.de/docs/Simulation/Safety.html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个仿真小步均可产生带采集时间的局部测量，估计器据此更新；时段误差在这些子步上累计，因此第⑤步在概念上包含第④步期间的持续更新，而非等一个RL步结束才处理全部传感数据。终点项仅在最终回合边界追加一次。训练采样截断和任务终止需要区分。流程中的全局标签只在评价器中使用。TraCI提供仿真步进与查询机制，传感过滤、估计、奖励汇总由项目包装层实现。</a:t>
            </a:r>
          </a:p>
          <a:p/>
          <a:p>
            <a:r>
              <a:t>[Sources]</a:t>
            </a:r>
          </a:p>
          <a:p>
            <a:r>
              <a:t>https://sumo.dlr.de/docs/TraCI/Interfacing_TraCI_from_Python.html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O的随机数由种子控制，在相同配置和相同控制输入下可复现。探测车会参与交通交互，策略不同可能影响其他车辆行为，所以相同种子是控制随机条件，不是强制所有背景轨迹完全相同。首版可先用固定场景调试，再采样不同交通需求训练。数据集保存观测、实际请求、奖励、动作掩码、执行任务、结束原因和场景标签。不要只保存一个最优路线，也不能只保留最终高分样本而忽略状态覆盖。</a:t>
            </a:r>
          </a:p>
          <a:p/>
          <a:p>
            <a:r>
              <a:t>[Sources]</a:t>
            </a:r>
          </a:p>
          <a:p>
            <a:r>
              <a:t>https://sumo.dlr.de/docs/Simulation/Randomness.html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没有训练结果，表内全部是评价设计。环境动作会改变交通，需要记录背景车辆延误等扰动指标，即使首版奖励未加入扰动罚项也要监测，以防策略通过改变交通本身来降低估计难度。信息贪心基线必须使用可在线计算的信息量或已声明的模型，不能泄露未来真值。训练/测试应按需求、信号等参数组划分，而非同一回合随机切片。固定拓扑下未知交通是首版泛化重点；跨拓扑另行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“框架已明确”表示建模接口已经形成讨论稿，不代表算法和环境已经实现。建议先固定排队操作定义与在线信息来源，再验证估计器，随后冻结估计器训练策略，以便解释主动探测带来的提升。成本与扰动的权衡可后续纳入奖励，但先监测相应指标。质量阈值停止暂不作为主线，若引入需基于校准在线风险，不能使用真实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原始Decision Transformer通过期望回报、状态和历史动作进行因果序列建模。本项目是部分可观测任务，因此使用允许的观测历史或其编码，不喂入完整交通真值。轨迹可来自PPO和其他合法策略，保留良好表现与多样覆盖。一个关键差异是标准DT在线更新return-to-go通常用当步奖励；本项目真值误差奖励在真实部署时不可读，不能默默用仿真标签更新。后续可研究在线可计算且经过校准的代理奖励，并对离线数据按同一口径重标注；若固定或改成其他条件变量，则需明确它是DT变体。首版先评价固定拓扑内未见交通参数，再讨论拓扑泛化。参考论文并不证明本项目的泛化结论。</a:t>
            </a:r>
          </a:p>
          <a:p/>
          <a:p>
            <a:r>
              <a:t>[Sources]</a:t>
            </a:r>
          </a:p>
          <a:p>
            <a:r>
              <a:t>https://arxiv.org/abs/2106.01345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详细定义：E(t)=(1/M)Σℓ |Lhatℓ(t)−Lℓ(t)|，每条车道监测长度Dℓ，预测约束在[0,Dℓ]。归一化尺度L_ref固定。目标J(π)=Eπ[α/B∫从0到B e(t)dt+βe(B)]。γ=1有限时域时，时段积分奖励加一次终点项等价于−J。最后不足一完整RL步使用实际ΔT。失败补齐使用emax=(ΣDℓ)/(M L_ref)，再追加规定失败代价，确保不通过少计负奖励获利。示例仅用于计算说明。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完整方法与工具来源如下；封面图为本次生成的概念插图，非实验数据。</a:t>
            </a:r>
          </a:p>
          <a:p/>
          <a:p>
            <a:r>
              <a:t>[Sources]</a:t>
            </a:r>
          </a:p>
          <a:p>
            <a:r>
              <a:t>https://arxiv.org/abs/1507.06527</a:t>
            </a:r>
          </a:p>
          <a:p>
            <a:r>
              <a:t>https://arxiv.org/abs/1707.06347</a:t>
            </a:r>
          </a:p>
          <a:p>
            <a:r>
              <a:t>https://arxiv.org/abs/2006.14171</a:t>
            </a:r>
          </a:p>
          <a:p>
            <a:r>
              <a:t>https://sumo.dlr.de/docs/TraCI/index.html</a:t>
            </a:r>
          </a:p>
          <a:p>
            <a:r>
              <a:t>https://sumo.dlr.de/docs/TraCI/Interfacing_TraCI_from_Python.html</a:t>
            </a:r>
          </a:p>
          <a:p>
            <a:r>
              <a:t>https://sumo.dlr.de/docs/Simulation/Randomness.html</a:t>
            </a:r>
          </a:p>
          <a:p>
            <a:r>
              <a:t>https://sumo.dlr.de/docs/Simulation/Safety.html</a:t>
            </a:r>
          </a:p>
          <a:p>
            <a:r>
              <a:t>https://arxiv.org/abs/2106.01345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hyperlink" Target="https://arxiv.org/abs/2106.01345" TargetMode="External"/><Relationship Id="rId4" Type="http://schemas.openxmlformats.org/officeDocument/2006/relationships/hyperlink" Target="https://sumo.dlr.de/docs/TraCI/index.html" TargetMode="External"/><Relationship Id="rId3" Type="http://schemas.openxmlformats.org/officeDocument/2006/relationships/hyperlink" Target="https://arxiv.org/abs/1707.06347" TargetMode="External"/><Relationship Id="rId2" Type="http://schemas.openxmlformats.org/officeDocument/2006/relationships/hyperlink" Target="https://arxiv.org/abs/2006.14171" TargetMode="External"/><Relationship Id="rId1" Type="http://schemas.openxmlformats.org/officeDocument/2006/relationships/hyperlink" Target="https://arxiv.org/abs/1507.0652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-0"/>
          <p:cNvSpPr>
            <a:spLocks noGrp="1"/>
          </p:cNvSpPr>
          <p:nvPr/>
        </p:nvSpPr>
        <p:spPr>
          <a:xfrm>
            <a:off x="609600" y="571500"/>
            <a:ext cx="5191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 u="none">
                <a:solidFill>
                  <a:srgbClr val="56D7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u="none">
                <a:solidFill>
                  <a:srgbClr val="56D7D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GROUP MEETING  /  研究方案</a:t>
            </a:r>
            <a:endParaRPr sz="1875" b="0" u="none">
              <a:solidFill>
                <a:srgbClr val="56D7DA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" name="text-1"/>
          <p:cNvSpPr>
            <a:spLocks noGrp="1"/>
          </p:cNvSpPr>
          <p:nvPr/>
        </p:nvSpPr>
        <p:spPr>
          <a:xfrm>
            <a:off x="609600" y="2228850"/>
            <a:ext cx="5238750" cy="1819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5025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025" b="1" u="none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单探测车主动感知</a:t>
            </a:r>
            <a:endParaRPr sz="5025" b="1" u="none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  <a:p>
            <a:pPr algn="l">
              <a:buNone/>
              <a:defRPr sz="5025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025" b="1" u="none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路径优化研究</a:t>
            </a:r>
            <a:endParaRPr sz="5025" b="1" u="none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609600" y="4638675"/>
            <a:ext cx="5143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 u="none">
                <a:solidFill>
                  <a:srgbClr val="C2D6E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C2D6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数据匮乏交叉口 · 强化学习框架</a:t>
            </a:r>
            <a:endParaRPr sz="2100" b="0" u="none">
              <a:solidFill>
                <a:srgbClr val="C2D6E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buNone/>
              <a:defRPr sz="2100" b="0" u="none">
                <a:solidFill>
                  <a:srgbClr val="C2D6E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C2D6E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状态—动作—奖励—仿真交互</a:t>
            </a:r>
            <a:endParaRPr sz="2100" b="0" u="none">
              <a:solidFill>
                <a:srgbClr val="C2D6E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24518" r="24518"/>
          <a:stretch>
            <a:fillRect/>
          </a:stretch>
        </p:blipFill>
        <p:spPr>
          <a:xfrm>
            <a:off x="5981700" y="0"/>
            <a:ext cx="6210300" cy="6858000"/>
          </a:xfrm>
          <a:prstGeom prst="rect">
            <a:avLst/>
          </a:prstGeom>
        </p:spPr>
      </p:pic>
      <p:sp>
        <p:nvSpPr>
          <p:cNvPr id="6" name="added-1-3"/>
          <p:cNvSpPr>
            <a:spLocks noGrp="1"/>
          </p:cNvSpPr>
          <p:nvPr/>
        </p:nvSpPr>
        <p:spPr>
          <a:xfrm>
            <a:off x="609600" y="6162675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 u="none">
                <a:solidFill>
                  <a:srgbClr val="56D7DA"/>
                </a:solidFill>
                <a:latin typeface="Noto Sans CJK SC"/>
                <a:ea typeface="Noto Sans CJK SC"/>
                <a:cs typeface="Noto Sans CJK SC"/>
              </a:defRPr>
            </a:pPr>
            <a:endParaRPr sz="1725" b="0" u="none">
              <a:solidFill>
                <a:srgbClr val="56D7DA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xt-3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01  项目背景</a:t>
            </a:r>
            <a:endParaRPr sz="1650" b="1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" name="text-4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数据匮乏路口，需要可用的交通状态</a:t>
            </a:r>
            <a:endParaRPr sz="36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05050"/>
            <a:ext cx="3790950" cy="3152775"/>
          </a:xfrm>
          <a:prstGeom prst="rect">
            <a:avLst/>
          </a:prstGeom>
          <a:solidFill>
            <a:srgbClr val="0B2038"/>
          </a:solidFill>
          <a:ln w="0">
            <a:noFill/>
            <a:prstDash val="solid"/>
          </a:ln>
        </p:spPr>
      </p:sp>
      <p:sp>
        <p:nvSpPr>
          <p:cNvPr id="4" name="text-5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研究场景：固定检测不足的支路、片区等交叉口</a:t>
            </a:r>
            <a:endParaRPr sz="1800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5" name="text-6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text-7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02</a:t>
            </a:r>
            <a:endParaRPr sz="1575" b="0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7" name="text-8"/>
          <p:cNvSpPr>
            <a:spLocks noGrp="1"/>
          </p:cNvSpPr>
          <p:nvPr/>
        </p:nvSpPr>
        <p:spPr>
          <a:xfrm>
            <a:off x="828675" y="2571750"/>
            <a:ext cx="33528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225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 u="none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交通状态</a:t>
            </a:r>
            <a:endParaRPr sz="3225" b="1" u="none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  <a:p>
            <a:pPr algn="l">
              <a:buNone/>
              <a:defRPr sz="3225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 u="none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难以持续掌握</a:t>
            </a:r>
            <a:endParaRPr sz="3225" b="1" u="none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8" name="text-9"/>
          <p:cNvSpPr>
            <a:spLocks noGrp="1"/>
          </p:cNvSpPr>
          <p:nvPr/>
        </p:nvSpPr>
        <p:spPr>
          <a:xfrm>
            <a:off x="828675" y="4029075"/>
            <a:ext cx="3352800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 u="none">
                <a:solidFill>
                  <a:srgbClr val="C4D9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C4D9E3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排队多长？</a:t>
            </a:r>
            <a:endParaRPr sz="2100" b="0" u="none">
              <a:solidFill>
                <a:srgbClr val="C4D9E3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  <a:p>
            <a:pPr algn="l">
              <a:buNone/>
              <a:defRPr sz="2100" b="0" u="none">
                <a:solidFill>
                  <a:srgbClr val="C4D9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C4D9E3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哪个方向变化更快？</a:t>
            </a:r>
            <a:endParaRPr sz="2100" b="0" u="none">
              <a:solidFill>
                <a:srgbClr val="C4D9E3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  <a:p>
            <a:pPr algn="l">
              <a:buNone/>
              <a:defRPr sz="2100" b="0" u="none">
                <a:solidFill>
                  <a:srgbClr val="C4D9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C4D9E3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现有信息还能用多久？</a:t>
            </a:r>
            <a:endParaRPr sz="2100" b="0" u="none">
              <a:solidFill>
                <a:srgbClr val="C4D9E3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9" name="text-10"/>
          <p:cNvSpPr>
            <a:spLocks noGrp="1"/>
          </p:cNvSpPr>
          <p:nvPr/>
        </p:nvSpPr>
        <p:spPr>
          <a:xfrm>
            <a:off x="4943475" y="2295525"/>
            <a:ext cx="6286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01</a:t>
            </a:r>
            <a:endParaRPr sz="2550" b="1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0" name="text-11"/>
          <p:cNvSpPr>
            <a:spLocks noGrp="1"/>
          </p:cNvSpPr>
          <p:nvPr/>
        </p:nvSpPr>
        <p:spPr>
          <a:xfrm>
            <a:off x="5772150" y="2295525"/>
            <a:ext cx="58102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固定检测覆盖不足</a:t>
            </a:r>
            <a:endParaRPr sz="24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1" name="text-12"/>
          <p:cNvSpPr>
            <a:spLocks noGrp="1"/>
          </p:cNvSpPr>
          <p:nvPr/>
        </p:nvSpPr>
        <p:spPr>
          <a:xfrm>
            <a:off x="5772150" y="2809875"/>
            <a:ext cx="581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可用的路口数据存在缺口。</a:t>
            </a:r>
            <a:endParaRPr sz="1875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2" name="text-13"/>
          <p:cNvSpPr>
            <a:spLocks noGrp="1"/>
          </p:cNvSpPr>
          <p:nvPr/>
        </p:nvSpPr>
        <p:spPr>
          <a:xfrm>
            <a:off x="4943475" y="3371850"/>
            <a:ext cx="6286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02</a:t>
            </a:r>
            <a:endParaRPr sz="2550" b="1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3" name="text-14"/>
          <p:cNvSpPr>
            <a:spLocks noGrp="1"/>
          </p:cNvSpPr>
          <p:nvPr/>
        </p:nvSpPr>
        <p:spPr>
          <a:xfrm>
            <a:off x="5772150" y="3371850"/>
            <a:ext cx="58102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常规车辆采样不可控</a:t>
            </a:r>
            <a:endParaRPr sz="24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4" name="text-15"/>
          <p:cNvSpPr>
            <a:spLocks noGrp="1"/>
          </p:cNvSpPr>
          <p:nvPr/>
        </p:nvSpPr>
        <p:spPr>
          <a:xfrm>
            <a:off x="5772150" y="3886200"/>
            <a:ext cx="581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采样位置、时机未必满足目标任务。</a:t>
            </a:r>
            <a:endParaRPr sz="1875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4943475" y="3248025"/>
            <a:ext cx="6638925" cy="0"/>
          </a:xfrm>
          <a:prstGeom prst="line">
            <a:avLst/>
          </a:prstGeom>
          <a:noFill/>
          <a:ln w="19050">
            <a:solidFill>
              <a:srgbClr val="CEDCE5"/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4943475" y="4324350"/>
            <a:ext cx="6638925" cy="0"/>
          </a:xfrm>
          <a:prstGeom prst="line">
            <a:avLst/>
          </a:prstGeom>
          <a:noFill/>
          <a:ln w="19050">
            <a:solidFill>
              <a:srgbClr val="CEDCE5"/>
            </a:solidFill>
            <a:prstDash val="solid"/>
          </a:ln>
        </p:spPr>
      </p:sp>
      <p:sp>
        <p:nvSpPr>
          <p:cNvPr id="19" name="added-2-17"/>
          <p:cNvSpPr>
            <a:spLocks noGrp="1"/>
          </p:cNvSpPr>
          <p:nvPr/>
        </p:nvSpPr>
        <p:spPr>
          <a:xfrm>
            <a:off x="4943475" y="4448175"/>
            <a:ext cx="6286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03</a:t>
            </a:r>
            <a:endParaRPr sz="2550" b="1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20" name="added-2-17"/>
          <p:cNvSpPr>
            <a:spLocks noGrp="1"/>
          </p:cNvSpPr>
          <p:nvPr/>
        </p:nvSpPr>
        <p:spPr>
          <a:xfrm>
            <a:off x="5772150" y="4448175"/>
            <a:ext cx="58102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单车观测局部且会过时</a:t>
            </a:r>
            <a:endParaRPr sz="24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21" name="added-2-17"/>
          <p:cNvSpPr>
            <a:spLocks noGrp="1"/>
          </p:cNvSpPr>
          <p:nvPr/>
        </p:nvSpPr>
        <p:spPr>
          <a:xfrm>
            <a:off x="5772150" y="4962525"/>
            <a:ext cx="581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遮挡、视距与车流演化影响信息价值。</a:t>
            </a:r>
            <a:endParaRPr sz="1875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22" name="added-2-17"/>
          <p:cNvSpPr>
            <a:spLocks noGrp="1"/>
          </p:cNvSpPr>
          <p:nvPr/>
        </p:nvSpPr>
        <p:spPr>
          <a:xfrm>
            <a:off x="609600" y="5810250"/>
            <a:ext cx="109728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研究切入点：让探测车根据任务需要，主动选择观测位置与时机。</a:t>
            </a:r>
            <a:endParaRPr sz="2100" b="1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text-33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01  研究边界</a:t>
            </a:r>
            <a:endParaRPr sz="1650" b="1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" name="text-34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一辆车服务一个路口，导航范围允许更大</a:t>
            </a:r>
            <a:endParaRPr sz="36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190875" y="3457575"/>
            <a:ext cx="1057275" cy="1171575"/>
          </a:xfrm>
          <a:prstGeom prst="rect">
            <a:avLst/>
          </a:prstGeom>
          <a:solidFill>
            <a:srgbClr val="0B2038"/>
          </a:solidFill>
          <a:ln w="0">
            <a:noFill/>
            <a:prstDash val="solid"/>
          </a:ln>
        </p:spPr>
      </p:sp>
      <p:sp>
        <p:nvSpPr>
          <p:cNvPr id="4" name="text-35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估计对象：目标进口车道的当前排队长度；外围道路用于合法通行与返回</a:t>
            </a:r>
            <a:endParaRPr sz="1800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5" name="text-36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text-37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03</a:t>
            </a:r>
            <a:endParaRPr sz="1575" b="0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7" name="text-38"/>
          <p:cNvSpPr>
            <a:spLocks noGrp="1"/>
          </p:cNvSpPr>
          <p:nvPr/>
        </p:nvSpPr>
        <p:spPr>
          <a:xfrm>
            <a:off x="3352800" y="3714750"/>
            <a:ext cx="7429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325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 u="none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目标</a:t>
            </a:r>
            <a:endParaRPr sz="2325" b="1" u="none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  <a:p>
            <a:pPr algn="ctr">
              <a:buNone/>
              <a:defRPr sz="2325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 u="none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路口</a:t>
            </a:r>
            <a:endParaRPr sz="2325" b="1" u="none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8" name="text-39"/>
          <p:cNvSpPr>
            <a:spLocks noGrp="1"/>
          </p:cNvSpPr>
          <p:nvPr/>
        </p:nvSpPr>
        <p:spPr>
          <a:xfrm>
            <a:off x="2847975" y="2381250"/>
            <a:ext cx="17811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10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北进口车道</a:t>
            </a:r>
            <a:endParaRPr sz="2100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9" name="text-40"/>
          <p:cNvSpPr>
            <a:spLocks noGrp="1"/>
          </p:cNvSpPr>
          <p:nvPr/>
        </p:nvSpPr>
        <p:spPr>
          <a:xfrm>
            <a:off x="762000" y="3857625"/>
            <a:ext cx="17811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10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西进口车道</a:t>
            </a:r>
            <a:endParaRPr sz="2100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686050" y="2247900"/>
            <a:ext cx="2085975" cy="600075"/>
          </a:xfrm>
          <a:prstGeom prst="rect">
            <a:avLst/>
          </a:prstGeom>
          <a:solidFill>
            <a:srgbClr val="EAF5F5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19125" y="3733800"/>
            <a:ext cx="2066925" cy="628650"/>
          </a:xfrm>
          <a:prstGeom prst="rect">
            <a:avLst/>
          </a:prstGeom>
          <a:solidFill>
            <a:srgbClr val="EAF5F5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781550" y="3733800"/>
            <a:ext cx="2066925" cy="628650"/>
          </a:xfrm>
          <a:prstGeom prst="rect">
            <a:avLst/>
          </a:prstGeom>
          <a:solidFill>
            <a:srgbClr val="EAF5F5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686050" y="5191125"/>
            <a:ext cx="2085975" cy="600075"/>
          </a:xfrm>
          <a:prstGeom prst="rect">
            <a:avLst/>
          </a:prstGeom>
          <a:solidFill>
            <a:srgbClr val="EAF5F5"/>
          </a:solidFill>
          <a:ln w="0">
            <a:noFill/>
            <a:prstDash val="solid"/>
          </a:ln>
        </p:spPr>
      </p:sp>
      <p:sp>
        <p:nvSpPr>
          <p:cNvPr id="15" name="text-41"/>
          <p:cNvSpPr>
            <a:spLocks noGrp="1"/>
          </p:cNvSpPr>
          <p:nvPr/>
        </p:nvSpPr>
        <p:spPr>
          <a:xfrm>
            <a:off x="4924425" y="3857625"/>
            <a:ext cx="17811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10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东进口车道</a:t>
            </a:r>
            <a:endParaRPr sz="2100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6" name="text-42"/>
          <p:cNvSpPr>
            <a:spLocks noGrp="1"/>
          </p:cNvSpPr>
          <p:nvPr/>
        </p:nvSpPr>
        <p:spPr>
          <a:xfrm>
            <a:off x="2847975" y="5314950"/>
            <a:ext cx="17811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10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南进口车道</a:t>
            </a:r>
            <a:endParaRPr sz="2100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7" name="text-43"/>
          <p:cNvSpPr>
            <a:spLocks noGrp="1"/>
          </p:cNvSpPr>
          <p:nvPr/>
        </p:nvSpPr>
        <p:spPr>
          <a:xfrm>
            <a:off x="1609725" y="583882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外围连接示意</a:t>
            </a:r>
            <a:endParaRPr sz="1650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8" name="text-44"/>
          <p:cNvSpPr>
            <a:spLocks noGrp="1"/>
          </p:cNvSpPr>
          <p:nvPr/>
        </p:nvSpPr>
        <p:spPr>
          <a:xfrm>
            <a:off x="7534275" y="2305050"/>
            <a:ext cx="4048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先固定三项边界</a:t>
            </a:r>
            <a:endParaRPr sz="255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9" name="text-45"/>
          <p:cNvSpPr>
            <a:spLocks noGrp="1"/>
          </p:cNvSpPr>
          <p:nvPr/>
        </p:nvSpPr>
        <p:spPr>
          <a:xfrm>
            <a:off x="7534275" y="3038475"/>
            <a:ext cx="4048125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目标区：哪些车道、监测多长</a:t>
            </a:r>
            <a:endParaRPr sz="2025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20" name="text-46"/>
          <p:cNvSpPr>
            <a:spLocks noGrp="1"/>
          </p:cNvSpPr>
          <p:nvPr/>
        </p:nvSpPr>
        <p:spPr>
          <a:xfrm>
            <a:off x="7534275" y="3895725"/>
            <a:ext cx="4048125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导航图：允许沿哪些道路返回</a:t>
            </a:r>
            <a:endParaRPr sz="2025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21" name="text-47"/>
          <p:cNvSpPr>
            <a:spLocks noGrp="1"/>
          </p:cNvSpPr>
          <p:nvPr/>
        </p:nvSpPr>
        <p:spPr>
          <a:xfrm>
            <a:off x="7534275" y="4752975"/>
            <a:ext cx="4048125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任务预算：探测总时长 B</a:t>
            </a:r>
            <a:endParaRPr sz="2025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2" name="text-48"/>
          <p:cNvSpPr>
            <a:spLocks noGrp="1"/>
          </p:cNvSpPr>
          <p:nvPr/>
        </p:nvSpPr>
        <p:spPr>
          <a:xfrm>
            <a:off x="7534275" y="5534025"/>
            <a:ext cx="40481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离开目标区后，</a:t>
            </a:r>
            <a:endParaRPr sz="1875" b="1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  <a:p>
            <a:pPr algn="l">
              <a:buNone/>
              <a:defRPr sz="1875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时间与交通演化继续累计。</a:t>
            </a:r>
            <a:endParaRPr sz="1875" b="1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3714750" y="2867025"/>
            <a:ext cx="0" cy="590550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1" name="等腰三角形 30"/>
          <p:cNvSpPr>
            <a:spLocks noGrp="1"/>
          </p:cNvSpPr>
          <p:nvPr/>
        </p:nvSpPr>
        <p:spPr>
          <a:xfrm rot="10800000">
            <a:off x="3667125" y="3409950"/>
            <a:ext cx="95250" cy="95250"/>
          </a:xfrm>
          <a:prstGeom prst="triangle">
            <a:avLst/>
          </a:prstGeom>
          <a:solidFill>
            <a:srgbClr val="007E87"/>
          </a:solidFill>
          <a:ln w="0">
            <a:noFill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2686050" y="4048125"/>
            <a:ext cx="552450" cy="0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3" name="等腰三角形 32"/>
          <p:cNvSpPr>
            <a:spLocks noGrp="1"/>
          </p:cNvSpPr>
          <p:nvPr/>
        </p:nvSpPr>
        <p:spPr>
          <a:xfrm rot="5400000">
            <a:off x="3190875" y="4000500"/>
            <a:ext cx="95250" cy="95250"/>
          </a:xfrm>
          <a:prstGeom prst="triangle">
            <a:avLst/>
          </a:prstGeom>
          <a:solidFill>
            <a:srgbClr val="007E87"/>
          </a:solidFill>
          <a:ln w="0">
            <a:noFill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4248150" y="4048125"/>
            <a:ext cx="533400" cy="0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5" name="等腰三角形 34"/>
          <p:cNvSpPr>
            <a:spLocks noGrp="1"/>
          </p:cNvSpPr>
          <p:nvPr/>
        </p:nvSpPr>
        <p:spPr>
          <a:xfrm rot="16200000">
            <a:off x="4200525" y="4000500"/>
            <a:ext cx="95250" cy="95250"/>
          </a:xfrm>
          <a:prstGeom prst="triangle">
            <a:avLst/>
          </a:prstGeom>
          <a:solidFill>
            <a:srgbClr val="007E87"/>
          </a:solidFill>
          <a:ln w="0">
            <a:noFill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3714750" y="4629150"/>
            <a:ext cx="0" cy="561975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7" name="等腰三角形 36"/>
          <p:cNvSpPr>
            <a:spLocks noGrp="1"/>
          </p:cNvSpPr>
          <p:nvPr/>
        </p:nvSpPr>
        <p:spPr>
          <a:xfrm rot="21600000">
            <a:off x="3667125" y="4581525"/>
            <a:ext cx="95250" cy="95250"/>
          </a:xfrm>
          <a:prstGeom prst="triangle">
            <a:avLst/>
          </a:prstGeom>
          <a:solidFill>
            <a:srgbClr val="007E87"/>
          </a:solidFill>
          <a:ln w="0">
            <a:noFill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438275" y="2647950"/>
            <a:ext cx="0" cy="2933700"/>
          </a:xfrm>
          <a:prstGeom prst="line">
            <a:avLst/>
          </a:prstGeom>
          <a:noFill/>
          <a:ln w="19050">
            <a:solidFill>
              <a:srgbClr val="CEDCE5"/>
            </a:solidFill>
            <a:prstDash val="dash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1438275" y="5581650"/>
            <a:ext cx="4448175" cy="0"/>
          </a:xfrm>
          <a:prstGeom prst="line">
            <a:avLst/>
          </a:prstGeom>
          <a:noFill/>
          <a:ln w="19050">
            <a:solidFill>
              <a:srgbClr val="CEDCE5"/>
            </a:solidFill>
            <a:prstDash val="dash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5886450" y="2657475"/>
            <a:ext cx="0" cy="2924175"/>
          </a:xfrm>
          <a:prstGeom prst="line">
            <a:avLst/>
          </a:prstGeom>
          <a:noFill/>
          <a:ln w="19050">
            <a:solidFill>
              <a:srgbClr val="CEDCE5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xt-3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01  核心研究问题</a:t>
            </a:r>
            <a:endParaRPr sz="1650" b="1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" name="text-4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主动探测的价值，在于改善后续判断</a:t>
            </a:r>
            <a:endParaRPr sz="36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638800"/>
            <a:ext cx="10972800" cy="542925"/>
          </a:xfrm>
          <a:prstGeom prst="rect">
            <a:avLst/>
          </a:prstGeom>
          <a:solidFill>
            <a:srgbClr val="EAF5F5"/>
          </a:solidFill>
          <a:ln w="0">
            <a:noFill/>
            <a:prstDash val="solid"/>
          </a:ln>
        </p:spPr>
      </p:sp>
      <p:sp>
        <p:nvSpPr>
          <p:cNvPr id="4" name="text-5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同一位置、同一交通状态下，信息历史不同，合理选择也可能不同</a:t>
            </a:r>
            <a:endParaRPr sz="1800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5" name="text-6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text-7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04</a:t>
            </a:r>
            <a:endParaRPr sz="1575" b="0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7" name="text-8"/>
          <p:cNvSpPr>
            <a:spLocks noGrp="1"/>
          </p:cNvSpPr>
          <p:nvPr/>
        </p:nvSpPr>
        <p:spPr>
          <a:xfrm>
            <a:off x="609600" y="2286000"/>
            <a:ext cx="4810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已掌握的信息</a:t>
            </a:r>
            <a:endParaRPr sz="255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8" name="text-9"/>
          <p:cNvSpPr>
            <a:spLocks noGrp="1"/>
          </p:cNvSpPr>
          <p:nvPr/>
        </p:nvSpPr>
        <p:spPr>
          <a:xfrm>
            <a:off x="609600" y="3076575"/>
            <a:ext cx="50292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方向 A：刚刚观测，估计较确定</a:t>
            </a:r>
            <a:endParaRPr sz="2100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text-10"/>
          <p:cNvSpPr>
            <a:spLocks noGrp="1"/>
          </p:cNvSpPr>
          <p:nvPr/>
        </p:nvSpPr>
        <p:spPr>
          <a:xfrm>
            <a:off x="609600" y="3905250"/>
            <a:ext cx="50292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方向 B：久未观测，区间较宽</a:t>
            </a:r>
            <a:endParaRPr sz="2100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text-11"/>
          <p:cNvSpPr>
            <a:spLocks noGrp="1"/>
          </p:cNvSpPr>
          <p:nvPr/>
        </p:nvSpPr>
        <p:spPr>
          <a:xfrm>
            <a:off x="609600" y="4733925"/>
            <a:ext cx="50292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剩余时间：还够不够绕行返回？</a:t>
            </a:r>
            <a:endParaRPr sz="2100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1" name="text-12"/>
          <p:cNvSpPr>
            <a:spLocks noGrp="1"/>
          </p:cNvSpPr>
          <p:nvPr/>
        </p:nvSpPr>
        <p:spPr>
          <a:xfrm>
            <a:off x="6667500" y="2286000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决策需要权衡</a:t>
            </a:r>
            <a:endParaRPr sz="255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2" name="text-13"/>
          <p:cNvSpPr>
            <a:spLocks noGrp="1"/>
          </p:cNvSpPr>
          <p:nvPr/>
        </p:nvSpPr>
        <p:spPr>
          <a:xfrm>
            <a:off x="6667500" y="3076575"/>
            <a:ext cx="4914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立即观测的收益</a:t>
            </a:r>
            <a:endParaRPr sz="2100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3" name="text-14"/>
          <p:cNvSpPr>
            <a:spLocks noGrp="1"/>
          </p:cNvSpPr>
          <p:nvPr/>
        </p:nvSpPr>
        <p:spPr>
          <a:xfrm>
            <a:off x="6667500" y="3905250"/>
            <a:ext cx="4914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绕行之后可获得的信息</a:t>
            </a:r>
            <a:endParaRPr sz="2100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4" name="text-15"/>
          <p:cNvSpPr>
            <a:spLocks noGrp="1"/>
          </p:cNvSpPr>
          <p:nvPr/>
        </p:nvSpPr>
        <p:spPr>
          <a:xfrm>
            <a:off x="6667500" y="4733925"/>
            <a:ext cx="4914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旧信息随时间失效的影响</a:t>
            </a:r>
            <a:endParaRPr sz="2100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17" name="added-4-52"/>
          <p:cNvSpPr>
            <a:spLocks noGrp="1"/>
          </p:cNvSpPr>
          <p:nvPr/>
        </p:nvSpPr>
        <p:spPr>
          <a:xfrm>
            <a:off x="790575" y="5743575"/>
            <a:ext cx="106013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强化学习研究问题：哪一串合法动作，能让全路口估计误差更小？</a:t>
            </a:r>
            <a:endParaRPr sz="2100" b="1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text-33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02  整体框架</a:t>
            </a:r>
            <a:endParaRPr sz="165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" name="text-34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把感知、估计、探测决策与驾驶执行接起来</a:t>
            </a:r>
            <a:endParaRPr sz="36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238375"/>
            <a:ext cx="2266950" cy="1247775"/>
          </a:xfrm>
          <a:prstGeom prst="rect">
            <a:avLst/>
          </a:prstGeom>
          <a:solidFill>
            <a:srgbClr val="EAF5F5"/>
          </a:solidFill>
          <a:ln w="0">
            <a:noFill/>
            <a:prstDash val="solid"/>
          </a:ln>
        </p:spPr>
      </p:sp>
      <p:sp>
        <p:nvSpPr>
          <p:cNvPr id="4" name="text-35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探测策略负责去哪里；驾驶执行器负责怎样合法行驶</a:t>
            </a:r>
            <a:endParaRPr sz="1800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5" name="text-36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6" name="text-37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05</a:t>
            </a:r>
            <a:endParaRPr sz="1575" b="0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7" name="text-38"/>
          <p:cNvSpPr>
            <a:spLocks noGrp="1"/>
          </p:cNvSpPr>
          <p:nvPr/>
        </p:nvSpPr>
        <p:spPr>
          <a:xfrm>
            <a:off x="8343900" y="4248150"/>
            <a:ext cx="3143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B571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B5712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策略参数更新</a:t>
            </a:r>
            <a:endParaRPr sz="1800" b="0" u="none">
              <a:solidFill>
                <a:srgbClr val="B5712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8" name="text-39"/>
          <p:cNvSpPr>
            <a:spLocks noGrp="1"/>
          </p:cNvSpPr>
          <p:nvPr/>
        </p:nvSpPr>
        <p:spPr>
          <a:xfrm>
            <a:off x="771525" y="2400300"/>
            <a:ext cx="19431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局部观测</a:t>
            </a:r>
            <a:endParaRPr sz="24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9" name="text-40"/>
          <p:cNvSpPr>
            <a:spLocks noGrp="1"/>
          </p:cNvSpPr>
          <p:nvPr/>
        </p:nvSpPr>
        <p:spPr>
          <a:xfrm>
            <a:off x="771525" y="2924175"/>
            <a:ext cx="19431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带时空信息的片段</a:t>
            </a:r>
            <a:endParaRPr sz="172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333750" y="2238375"/>
            <a:ext cx="2286000" cy="1247775"/>
          </a:xfrm>
          <a:prstGeom prst="rect">
            <a:avLst/>
          </a:prstGeom>
          <a:solidFill>
            <a:srgbClr val="EAF5F5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076950" y="2238375"/>
            <a:ext cx="2286000" cy="1247775"/>
          </a:xfrm>
          <a:prstGeom prst="rect">
            <a:avLst/>
          </a:prstGeom>
          <a:solidFill>
            <a:srgbClr val="0B2038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820150" y="2238375"/>
            <a:ext cx="2762250" cy="1247775"/>
          </a:xfrm>
          <a:prstGeom prst="rect">
            <a:avLst/>
          </a:prstGeom>
          <a:solidFill>
            <a:srgbClr val="EAF5F5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4743450"/>
            <a:ext cx="2781300" cy="1143000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848100" y="4791075"/>
            <a:ext cx="3152775" cy="1095375"/>
          </a:xfrm>
          <a:prstGeom prst="rect">
            <a:avLst/>
          </a:prstGeom>
          <a:solidFill>
            <a:srgbClr val="EAF5F5"/>
          </a:solidFill>
          <a:ln w="0">
            <a:noFill/>
            <a:prstDash val="solid"/>
          </a:ln>
        </p:spPr>
      </p:sp>
      <p:sp>
        <p:nvSpPr>
          <p:cNvPr id="15" name="text-41"/>
          <p:cNvSpPr>
            <a:spLocks noGrp="1"/>
          </p:cNvSpPr>
          <p:nvPr/>
        </p:nvSpPr>
        <p:spPr>
          <a:xfrm>
            <a:off x="3495675" y="2400300"/>
            <a:ext cx="19621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交通状态估计</a:t>
            </a:r>
            <a:endParaRPr sz="24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6" name="text-42"/>
          <p:cNvSpPr>
            <a:spLocks noGrp="1"/>
          </p:cNvSpPr>
          <p:nvPr/>
        </p:nvSpPr>
        <p:spPr>
          <a:xfrm>
            <a:off x="3495675" y="2924175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队列与不确定性</a:t>
            </a:r>
            <a:endParaRPr sz="172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7" name="text-43"/>
          <p:cNvSpPr>
            <a:spLocks noGrp="1"/>
          </p:cNvSpPr>
          <p:nvPr/>
        </p:nvSpPr>
        <p:spPr>
          <a:xfrm>
            <a:off x="6238875" y="2400300"/>
            <a:ext cx="19621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FFFFFF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探测策略 π</a:t>
            </a:r>
            <a:endParaRPr sz="2400" b="1" u="none">
              <a:solidFill>
                <a:srgbClr val="FFFFFF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8" name="text-44"/>
          <p:cNvSpPr>
            <a:spLocks noGrp="1"/>
          </p:cNvSpPr>
          <p:nvPr/>
        </p:nvSpPr>
        <p:spPr>
          <a:xfrm>
            <a:off x="6238875" y="2924175"/>
            <a:ext cx="19621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B9D2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B9D2DC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输出合法请求</a:t>
            </a:r>
            <a:endParaRPr sz="1725" b="0" u="none">
              <a:solidFill>
                <a:srgbClr val="B9D2DC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9" name="text-45"/>
          <p:cNvSpPr>
            <a:spLocks noGrp="1"/>
          </p:cNvSpPr>
          <p:nvPr/>
        </p:nvSpPr>
        <p:spPr>
          <a:xfrm>
            <a:off x="8982075" y="2400300"/>
            <a:ext cx="24384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驾驶与交通演化</a:t>
            </a:r>
            <a:endParaRPr sz="24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20" name="text-46"/>
          <p:cNvSpPr>
            <a:spLocks noGrp="1"/>
          </p:cNvSpPr>
          <p:nvPr/>
        </p:nvSpPr>
        <p:spPr>
          <a:xfrm>
            <a:off x="8982075" y="2924175"/>
            <a:ext cx="24384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车辆执行 · 周边交互</a:t>
            </a:r>
            <a:endParaRPr sz="172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1" name="text-47"/>
          <p:cNvSpPr>
            <a:spLocks noGrp="1"/>
          </p:cNvSpPr>
          <p:nvPr/>
        </p:nvSpPr>
        <p:spPr>
          <a:xfrm>
            <a:off x="5057775" y="4010025"/>
            <a:ext cx="3429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800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新的局部观测</a:t>
            </a:r>
            <a:endParaRPr sz="1800" b="0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22" name="text-48"/>
          <p:cNvSpPr>
            <a:spLocks noGrp="1"/>
          </p:cNvSpPr>
          <p:nvPr/>
        </p:nvSpPr>
        <p:spPr>
          <a:xfrm>
            <a:off x="800100" y="4886325"/>
            <a:ext cx="24098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全局真值</a:t>
            </a:r>
            <a:endParaRPr sz="2325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23" name="text-49"/>
          <p:cNvSpPr>
            <a:spLocks noGrp="1"/>
          </p:cNvSpPr>
          <p:nvPr/>
        </p:nvSpPr>
        <p:spPr>
          <a:xfrm>
            <a:off x="800100" y="5391150"/>
            <a:ext cx="24098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仅用于训练和独立评价</a:t>
            </a:r>
            <a:endParaRPr sz="172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24" name="text-50"/>
          <p:cNvSpPr>
            <a:spLocks noGrp="1"/>
          </p:cNvSpPr>
          <p:nvPr/>
        </p:nvSpPr>
        <p:spPr>
          <a:xfrm>
            <a:off x="4010025" y="4953000"/>
            <a:ext cx="28289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奖励评价器</a:t>
            </a:r>
            <a:endParaRPr sz="24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25" name="text-51"/>
          <p:cNvSpPr>
            <a:spLocks noGrp="1"/>
          </p:cNvSpPr>
          <p:nvPr/>
        </p:nvSpPr>
        <p:spPr>
          <a:xfrm>
            <a:off x="4010025" y="5476875"/>
            <a:ext cx="2828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同期估计误差 → r</a:t>
            </a:r>
            <a:endParaRPr sz="172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6" name="text-52"/>
          <p:cNvSpPr>
            <a:spLocks noGrp="1"/>
          </p:cNvSpPr>
          <p:nvPr/>
        </p:nvSpPr>
        <p:spPr>
          <a:xfrm>
            <a:off x="8115300" y="4953000"/>
            <a:ext cx="33051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FFFFFF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PPO 更新策略</a:t>
            </a:r>
            <a:endParaRPr sz="2400" b="1" u="none">
              <a:solidFill>
                <a:srgbClr val="FFFFFF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7" name="text-53"/>
          <p:cNvSpPr>
            <a:spLocks noGrp="1"/>
          </p:cNvSpPr>
          <p:nvPr/>
        </p:nvSpPr>
        <p:spPr>
          <a:xfrm>
            <a:off x="8115300" y="5476875"/>
            <a:ext cx="33051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B9D2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B9D2DC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依据交互轨迹改进 π</a:t>
            </a:r>
            <a:endParaRPr sz="1725" b="0" u="none">
              <a:solidFill>
                <a:srgbClr val="B9D2DC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2876550" y="2838450"/>
            <a:ext cx="457200" cy="0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1" name="等腰三角形 30"/>
          <p:cNvSpPr>
            <a:spLocks noGrp="1"/>
          </p:cNvSpPr>
          <p:nvPr/>
        </p:nvSpPr>
        <p:spPr>
          <a:xfrm rot="5400000">
            <a:off x="3286125" y="2790825"/>
            <a:ext cx="95250" cy="95250"/>
          </a:xfrm>
          <a:prstGeom prst="triangle">
            <a:avLst/>
          </a:prstGeom>
          <a:solidFill>
            <a:srgbClr val="007E87"/>
          </a:solidFill>
          <a:ln w="0">
            <a:noFill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5619750" y="2838450"/>
            <a:ext cx="457200" cy="0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3" name="等腰三角形 32"/>
          <p:cNvSpPr>
            <a:spLocks noGrp="1"/>
          </p:cNvSpPr>
          <p:nvPr/>
        </p:nvSpPr>
        <p:spPr>
          <a:xfrm rot="5400000">
            <a:off x="6029325" y="2790825"/>
            <a:ext cx="95250" cy="95250"/>
          </a:xfrm>
          <a:prstGeom prst="triangle">
            <a:avLst/>
          </a:prstGeom>
          <a:solidFill>
            <a:srgbClr val="007E87"/>
          </a:solidFill>
          <a:ln w="0">
            <a:noFill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8362950" y="2838450"/>
            <a:ext cx="457200" cy="0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5" name="等腰三角形 34"/>
          <p:cNvSpPr>
            <a:spLocks noGrp="1"/>
          </p:cNvSpPr>
          <p:nvPr/>
        </p:nvSpPr>
        <p:spPr>
          <a:xfrm rot="5400000">
            <a:off x="8772525" y="2790825"/>
            <a:ext cx="95250" cy="95250"/>
          </a:xfrm>
          <a:prstGeom prst="triangle">
            <a:avLst/>
          </a:prstGeom>
          <a:solidFill>
            <a:srgbClr val="007E87"/>
          </a:solidFill>
          <a:ln w="0">
            <a:noFill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9963150" y="3486150"/>
            <a:ext cx="0" cy="428625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52600" y="3914775"/>
            <a:ext cx="8210550" cy="0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752600" y="3486150"/>
            <a:ext cx="0" cy="428625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9" name="等腰三角形 38"/>
          <p:cNvSpPr>
            <a:spLocks noGrp="1"/>
          </p:cNvSpPr>
          <p:nvPr/>
        </p:nvSpPr>
        <p:spPr>
          <a:xfrm rot="21600000">
            <a:off x="1704975" y="3438525"/>
            <a:ext cx="95250" cy="95250"/>
          </a:xfrm>
          <a:prstGeom prst="triangle">
            <a:avLst/>
          </a:prstGeom>
          <a:solidFill>
            <a:srgbClr val="007E87"/>
          </a:solidFill>
          <a:ln w="0">
            <a:noFill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4476750" y="3486150"/>
            <a:ext cx="0" cy="1314450"/>
          </a:xfrm>
          <a:prstGeom prst="line">
            <a:avLst/>
          </a:prstGeom>
          <a:noFill/>
          <a:ln w="19050">
            <a:solidFill>
              <a:srgbClr val="B57127"/>
            </a:solidFill>
            <a:prstDash val="solid"/>
          </a:ln>
        </p:spPr>
      </p:sp>
      <p:sp>
        <p:nvSpPr>
          <p:cNvPr id="41" name="等腰三角形 40"/>
          <p:cNvSpPr>
            <a:spLocks noGrp="1"/>
          </p:cNvSpPr>
          <p:nvPr/>
        </p:nvSpPr>
        <p:spPr>
          <a:xfrm rot="10800000">
            <a:off x="4429125" y="4752975"/>
            <a:ext cx="95250" cy="95250"/>
          </a:xfrm>
          <a:prstGeom prst="triangle">
            <a:avLst/>
          </a:prstGeom>
          <a:solidFill>
            <a:srgbClr val="B57127"/>
          </a:solidFill>
          <a:ln w="0">
            <a:noFill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7000875" y="5248275"/>
            <a:ext cx="952500" cy="0"/>
          </a:xfrm>
          <a:prstGeom prst="line">
            <a:avLst/>
          </a:prstGeom>
          <a:noFill/>
          <a:ln w="19050">
            <a:solidFill>
              <a:srgbClr val="B57127"/>
            </a:solidFill>
            <a:prstDash val="solid"/>
          </a:ln>
        </p:spPr>
      </p:sp>
      <p:sp>
        <p:nvSpPr>
          <p:cNvPr id="43" name="等腰三角形 42"/>
          <p:cNvSpPr>
            <a:spLocks noGrp="1"/>
          </p:cNvSpPr>
          <p:nvPr/>
        </p:nvSpPr>
        <p:spPr>
          <a:xfrm rot="5400000">
            <a:off x="7905750" y="5200650"/>
            <a:ext cx="95250" cy="95250"/>
          </a:xfrm>
          <a:prstGeom prst="triangle">
            <a:avLst/>
          </a:prstGeom>
          <a:solidFill>
            <a:srgbClr val="B57127"/>
          </a:solidFill>
          <a:ln w="0">
            <a:noFill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8172450" y="3486150"/>
            <a:ext cx="0" cy="1304925"/>
          </a:xfrm>
          <a:prstGeom prst="line">
            <a:avLst/>
          </a:prstGeom>
          <a:noFill/>
          <a:ln w="19050">
            <a:solidFill>
              <a:srgbClr val="B57127"/>
            </a:solidFill>
            <a:prstDash val="solid"/>
          </a:ln>
        </p:spPr>
      </p:sp>
      <p:sp>
        <p:nvSpPr>
          <p:cNvPr id="45" name="等腰三角形 44"/>
          <p:cNvSpPr>
            <a:spLocks noGrp="1"/>
          </p:cNvSpPr>
          <p:nvPr/>
        </p:nvSpPr>
        <p:spPr>
          <a:xfrm rot="21600000">
            <a:off x="8124825" y="3438525"/>
            <a:ext cx="95250" cy="95250"/>
          </a:xfrm>
          <a:prstGeom prst="triangle">
            <a:avLst/>
          </a:prstGeom>
          <a:solidFill>
            <a:srgbClr val="B57127"/>
          </a:solidFill>
          <a:ln w="0">
            <a:noFill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3390900" y="5248275"/>
            <a:ext cx="457200" cy="0"/>
          </a:xfrm>
          <a:prstGeom prst="line">
            <a:avLst/>
          </a:prstGeom>
          <a:noFill/>
          <a:ln w="19050">
            <a:solidFill>
              <a:srgbClr val="B57127"/>
            </a:solidFill>
            <a:prstDash val="solid"/>
          </a:ln>
        </p:spPr>
      </p:sp>
      <p:sp>
        <p:nvSpPr>
          <p:cNvPr id="47" name="等腰三角形 46"/>
          <p:cNvSpPr>
            <a:spLocks noGrp="1"/>
          </p:cNvSpPr>
          <p:nvPr/>
        </p:nvSpPr>
        <p:spPr>
          <a:xfrm rot="5400000">
            <a:off x="3800475" y="5200650"/>
            <a:ext cx="95250" cy="95250"/>
          </a:xfrm>
          <a:prstGeom prst="triangle">
            <a:avLst/>
          </a:prstGeom>
          <a:solidFill>
            <a:srgbClr val="B57127"/>
          </a:solidFill>
          <a:ln w="0">
            <a:noFill/>
          </a:ln>
        </p:spPr>
      </p:sp>
      <p:sp>
        <p:nvSpPr>
          <p:cNvPr id="48" name="struct-5-77"/>
          <p:cNvSpPr>
            <a:spLocks noGrp="1"/>
          </p:cNvSpPr>
          <p:nvPr/>
        </p:nvSpPr>
        <p:spPr>
          <a:xfrm>
            <a:off x="7953375" y="4791075"/>
            <a:ext cx="3629025" cy="1095375"/>
          </a:xfrm>
          <a:prstGeom prst="rect">
            <a:avLst/>
          </a:prstGeom>
          <a:solidFill>
            <a:srgbClr val="0B2038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text-21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02  决策过程</a:t>
            </a:r>
            <a:endParaRPr sz="165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" name="text-22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采用 POMDP：完整交通状态无法直接观测</a:t>
            </a:r>
            <a:endParaRPr sz="36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4" name="text-23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完整状态描述系统演化；策略观测描述探测车当下可获得的信息</a:t>
            </a:r>
            <a:endParaRPr sz="1800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5" name="text-24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6" name="text-25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06</a:t>
            </a:r>
            <a:endParaRPr sz="1575" b="0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7" name="text-26"/>
          <p:cNvSpPr>
            <a:spLocks noGrp="1"/>
          </p:cNvSpPr>
          <p:nvPr/>
        </p:nvSpPr>
        <p:spPr>
          <a:xfrm>
            <a:off x="609600" y="2352675"/>
            <a:ext cx="4972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625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完整状态 S</a:t>
            </a:r>
            <a:endParaRPr sz="2625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8" name="text-27"/>
          <p:cNvSpPr>
            <a:spLocks noGrp="1"/>
          </p:cNvSpPr>
          <p:nvPr/>
        </p:nvSpPr>
        <p:spPr>
          <a:xfrm>
            <a:off x="609600" y="3152775"/>
            <a:ext cx="514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62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S =（X，ξ，c，B−t）</a:t>
            </a:r>
            <a:endParaRPr sz="2625" b="0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9" name="text-28"/>
          <p:cNvSpPr>
            <a:spLocks noGrp="1"/>
          </p:cNvSpPr>
          <p:nvPr/>
        </p:nvSpPr>
        <p:spPr>
          <a:xfrm>
            <a:off x="537845" y="4105275"/>
            <a:ext cx="5143500" cy="1362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X：车辆、信号及必要交通隐变量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ξ：观测记忆与估计器内部状态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c：驾驶任务及执行内部状态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0" name="text-29"/>
          <p:cNvSpPr>
            <a:spLocks noGrp="1"/>
          </p:cNvSpPr>
          <p:nvPr/>
        </p:nvSpPr>
        <p:spPr>
          <a:xfrm>
            <a:off x="6696075" y="2352675"/>
            <a:ext cx="48863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625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策略依据 o 与历史 H</a:t>
            </a:r>
            <a:endParaRPr sz="2625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1" name="text-30"/>
          <p:cNvSpPr>
            <a:spLocks noGrp="1"/>
          </p:cNvSpPr>
          <p:nvPr/>
        </p:nvSpPr>
        <p:spPr>
          <a:xfrm>
            <a:off x="6696075" y="3162300"/>
            <a:ext cx="48863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局部测量 + 当前估计 + 自车与任务信息</a:t>
            </a:r>
            <a:endParaRPr sz="2100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2" name="text-31"/>
          <p:cNvSpPr>
            <a:spLocks noGrp="1"/>
          </p:cNvSpPr>
          <p:nvPr/>
        </p:nvSpPr>
        <p:spPr>
          <a:xfrm>
            <a:off x="6696075" y="4343400"/>
            <a:ext cx="4886325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π(a | o, H)</a:t>
            </a:r>
            <a:endParaRPr sz="2325" b="0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  <a:p>
            <a:pPr algn="l">
              <a:buNone/>
              <a:defRPr sz="232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在当前允许的动作中选择请求</a:t>
            </a:r>
            <a:endParaRPr sz="2325" b="0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3" name="text-32"/>
          <p:cNvSpPr>
            <a:spLocks noGrp="1"/>
          </p:cNvSpPr>
          <p:nvPr/>
        </p:nvSpPr>
        <p:spPr>
          <a:xfrm>
            <a:off x="609600" y="5810250"/>
            <a:ext cx="109728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当前观测摘要是近似；必要时加入记忆，但不预设它已严格满足马尔可夫性。</a:t>
            </a:r>
            <a:endParaRPr sz="210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3" name="文本框 2"/>
          <p:cNvSpPr txBox="1"/>
          <p:nvPr/>
        </p:nvSpPr>
        <p:spPr>
          <a:xfrm>
            <a:off x="661035" y="5229225"/>
            <a:ext cx="4098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缺点：维度</a:t>
            </a:r>
            <a:r>
              <a:rPr lang="zh-CN" altLang="en-US"/>
              <a:t>灾难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175375" y="5372735"/>
            <a:ext cx="5407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信念状态：</a:t>
            </a:r>
            <a:r>
              <a:rPr lang="en-US" altLang="zh-CN"/>
              <a:t>bt(s):</a:t>
            </a:r>
            <a:r>
              <a:rPr lang="zh-CN" altLang="en-US"/>
              <a:t>在</a:t>
            </a:r>
            <a:r>
              <a:rPr lang="en-US" altLang="zh-CN"/>
              <a:t>t</a:t>
            </a:r>
            <a:r>
              <a:rPr lang="zh-CN" altLang="en-US">
                <a:ea typeface="SimSun" panose="02010600030101010101" pitchFamily="2" charset="-122"/>
              </a:rPr>
              <a:t>，</a:t>
            </a:r>
            <a:r>
              <a:rPr lang="en-US" altLang="zh-CN">
                <a:ea typeface="SimSun" panose="02010600030101010101" pitchFamily="2" charset="-122"/>
              </a:rPr>
              <a:t>agent</a:t>
            </a:r>
            <a:r>
              <a:rPr lang="zh-CN" altLang="en-US">
                <a:ea typeface="SimSun" panose="02010600030101010101" pitchFamily="2" charset="-122"/>
              </a:rPr>
              <a:t>认为自己处于</a:t>
            </a:r>
            <a:r>
              <a:rPr lang="en-US" altLang="zh-CN">
                <a:ea typeface="SimSun" panose="02010600030101010101" pitchFamily="2" charset="-122"/>
              </a:rPr>
              <a:t>s</a:t>
            </a:r>
            <a:r>
              <a:rPr lang="zh-CN" altLang="en-US">
                <a:ea typeface="SimSun" panose="02010600030101010101" pitchFamily="2" charset="-122"/>
              </a:rPr>
              <a:t>的</a:t>
            </a:r>
            <a:r>
              <a:rPr lang="zh-CN" altLang="en-US">
                <a:ea typeface="SimSun" panose="02010600030101010101" pitchFamily="2" charset="-122"/>
              </a:rPr>
              <a:t>概率</a:t>
            </a:r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185785" y="60928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信念更新（</a:t>
            </a:r>
            <a:r>
              <a:rPr lang="en-US" altLang="zh-CN"/>
              <a:t>belif update</a:t>
            </a:r>
            <a:r>
              <a:rPr lang="zh-CN" altLang="en-US">
                <a:ea typeface="SimSun" panose="02010600030101010101" pitchFamily="2" charset="-122"/>
              </a:rPr>
              <a:t>）</a:t>
            </a:r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712085" y="1929130"/>
            <a:ext cx="51638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用旧知识和新动作进行</a:t>
            </a:r>
            <a:r>
              <a:rPr lang="zh-CN" altLang="en-US"/>
              <a:t>预测</a:t>
            </a:r>
            <a:endParaRPr lang="zh-CN" altLang="en-US"/>
          </a:p>
          <a:p>
            <a:r>
              <a:rPr lang="zh-CN" altLang="en-US"/>
              <a:t>收集新证据</a:t>
            </a:r>
            <a:r>
              <a:rPr lang="zh-CN" altLang="en-US"/>
              <a:t>观测</a:t>
            </a:r>
            <a:endParaRPr lang="zh-CN" altLang="en-US"/>
          </a:p>
          <a:p>
            <a:r>
              <a:rPr lang="zh-CN" altLang="en-US"/>
              <a:t>用新证据去修正</a:t>
            </a:r>
            <a:r>
              <a:rPr lang="zh-CN" altLang="en-US"/>
              <a:t>预测</a:t>
            </a:r>
            <a:endParaRPr lang="zh-CN" altLang="en-US"/>
          </a:p>
          <a:p>
            <a:r>
              <a:rPr lang="zh-CN" altLang="en-US"/>
              <a:t>重新校准认知，形成</a:t>
            </a:r>
            <a:r>
              <a:rPr lang="zh-CN" altLang="en-US"/>
              <a:t>新知识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7607935" y="3613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>
                <a:ea typeface="SimSun" panose="02010600030101010101" pitchFamily="2" charset="-122"/>
              </a:rPr>
              <a:t>这里</a:t>
            </a:r>
            <a:r>
              <a:rPr lang="zh-CN" altLang="zh-CN">
                <a:ea typeface="SimSun" panose="02010600030101010101" pitchFamily="2" charset="-122"/>
              </a:rPr>
              <a:t>的信念更新</a:t>
            </a:r>
            <a:r>
              <a:rPr lang="zh-CN" altLang="zh-CN">
                <a:ea typeface="SimSun" panose="02010600030101010101" pitchFamily="2" charset="-122"/>
              </a:rPr>
              <a:t>公式？</a:t>
            </a:r>
            <a:endParaRPr lang="zh-CN" altLang="zh-CN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-54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03  状态观测</a:t>
            </a:r>
            <a:endParaRPr sz="165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" name="text-55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策略输入由五组信息构成</a:t>
            </a:r>
            <a:endParaRPr sz="36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4" name="text-56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既包含连续数值，也包含车道类别、执行标志和合法性约束</a:t>
            </a:r>
            <a:endParaRPr sz="1800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5" name="text-57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609600" y="2152650"/>
          <a:ext cx="10972800" cy="3390900"/>
        </p:xfrm>
        <a:graphic>
          <a:graphicData uri="http://schemas.openxmlformats.org/drawingml/2006/table">
            <a:tbl>
              <a:tblPr/>
              <a:tblGrid>
                <a:gridCol w="1952625"/>
                <a:gridCol w="6762750"/>
                <a:gridCol w="2257425"/>
              </a:tblGrid>
              <a:tr h="5651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信息组</a:t>
                      </a:r>
                      <a:endParaRPr sz="1800" b="1">
                        <a:solidFill>
                          <a:srgbClr val="FFFFFF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0B203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具体字段</a:t>
                      </a:r>
                      <a:endParaRPr sz="1800" b="1">
                        <a:solidFill>
                          <a:srgbClr val="FFFFFF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0B203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类型</a:t>
                      </a:r>
                      <a:endParaRPr sz="1800" b="1">
                        <a:solidFill>
                          <a:srgbClr val="FFFFFF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0B2038"/>
                    </a:solidFill>
                  </a:tcPr>
                </a:tc>
              </a:tr>
              <a:tr h="5651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自车 e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车道 / 连接编号；沿车道位置 s；速度、加速度、航向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类别 + 连续值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目标车道 Q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排队估计、预测区间、有效性、覆盖与信息年龄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M × 7 摘要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</a:tr>
              <a:tr h="5651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预算 d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剩余时间 B−t；总预算 B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连续值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执行任务 c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模式、目标、剩余距离、执行时间、可重规划标志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混合类型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</a:tr>
              <a:tr h="56515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动作掩码 m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六个动作当前是否允许提交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布尔向量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58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07</a:t>
            </a:r>
            <a:endParaRPr sz="1575" b="0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11" name="added-7-97"/>
          <p:cNvSpPr>
            <a:spLocks noGrp="1"/>
          </p:cNvSpPr>
          <p:nvPr/>
        </p:nvSpPr>
        <p:spPr>
          <a:xfrm>
            <a:off x="609600" y="5810250"/>
            <a:ext cx="109728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车道编号相同，连续位置、交通估计与预算仍会变化。</a:t>
            </a:r>
            <a:endParaRPr sz="210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ext-59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03  无网格信息表示</a:t>
            </a:r>
            <a:endParaRPr sz="165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" name="text-60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每条目标车道，用 7 项信息描述估计与依据</a:t>
            </a:r>
            <a:endParaRPr sz="36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4" name="text-61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取消等长小格；估计器仍保留带位置和采集时间的原始观测</a:t>
            </a:r>
            <a:endParaRPr sz="1800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5" name="text-62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6" name="text-63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08</a:t>
            </a:r>
            <a:endParaRPr sz="1575" b="0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7" name="text-64"/>
          <p:cNvSpPr>
            <a:spLocks noGrp="1"/>
          </p:cNvSpPr>
          <p:nvPr/>
        </p:nvSpPr>
        <p:spPr>
          <a:xfrm>
            <a:off x="609600" y="2333625"/>
            <a:ext cx="5095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估计结果 · 4 项</a:t>
            </a:r>
            <a:endParaRPr sz="255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8" name="text-65"/>
          <p:cNvSpPr>
            <a:spLocks noGrp="1"/>
          </p:cNvSpPr>
          <p:nvPr/>
        </p:nvSpPr>
        <p:spPr>
          <a:xfrm>
            <a:off x="609600" y="3057525"/>
            <a:ext cx="5095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排队估计 L̂：当前队列长度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9" name="text-66"/>
          <p:cNvSpPr>
            <a:spLocks noGrp="1"/>
          </p:cNvSpPr>
          <p:nvPr/>
        </p:nvSpPr>
        <p:spPr>
          <a:xfrm>
            <a:off x="609600" y="3752850"/>
            <a:ext cx="5095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区间 [l,u]：预测下界与上界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0" name="text-67"/>
          <p:cNvSpPr>
            <a:spLocks noGrp="1"/>
          </p:cNvSpPr>
          <p:nvPr/>
        </p:nvSpPr>
        <p:spPr>
          <a:xfrm>
            <a:off x="609600" y="4448175"/>
            <a:ext cx="5095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有效性 v：是否正常产生估计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1" name="text-68"/>
          <p:cNvSpPr>
            <a:spLocks noGrp="1"/>
          </p:cNvSpPr>
          <p:nvPr/>
        </p:nvSpPr>
        <p:spPr>
          <a:xfrm>
            <a:off x="6667500" y="23336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观测依据 · 3 项</a:t>
            </a:r>
            <a:endParaRPr sz="255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2" name="text-69"/>
          <p:cNvSpPr>
            <a:spLocks noGrp="1"/>
          </p:cNvSpPr>
          <p:nvPr/>
        </p:nvSpPr>
        <p:spPr>
          <a:xfrm>
            <a:off x="6667500" y="3057525"/>
            <a:ext cx="4914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ρ：最近一次直接观测覆盖比例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3" name="text-70"/>
          <p:cNvSpPr>
            <a:spLocks noGrp="1"/>
          </p:cNvSpPr>
          <p:nvPr/>
        </p:nvSpPr>
        <p:spPr>
          <a:xfrm>
            <a:off x="6667500" y="3752850"/>
            <a:ext cx="4914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τ：距该次采集时刻的时间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5" name="text-71"/>
          <p:cNvSpPr>
            <a:spLocks noGrp="1"/>
          </p:cNvSpPr>
          <p:nvPr/>
        </p:nvSpPr>
        <p:spPr>
          <a:xfrm>
            <a:off x="6667500" y="4448175"/>
            <a:ext cx="4914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h：是否曾有有效直接观测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6" name="text-72"/>
          <p:cNvSpPr>
            <a:spLocks noGrp="1"/>
          </p:cNvSpPr>
          <p:nvPr/>
        </p:nvSpPr>
        <p:spPr>
          <a:xfrm>
            <a:off x="609600" y="5505450"/>
            <a:ext cx="109728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示例：q =（65, 40, 95, 1, 0.35, 12, 1）</a:t>
            </a:r>
            <a:endParaRPr sz="2325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609600" y="5267325"/>
            <a:ext cx="10972800" cy="0"/>
          </a:xfrm>
          <a:prstGeom prst="line">
            <a:avLst/>
          </a:prstGeom>
          <a:noFill/>
          <a:ln w="19050">
            <a:solidFill>
              <a:srgbClr val="CEDCE5"/>
            </a:solidFill>
            <a:prstDash val="solid"/>
          </a:ln>
        </p:spPr>
      </p:sp>
      <p:sp>
        <p:nvSpPr>
          <p:cNvPr id="20" name="added-8-111"/>
          <p:cNvSpPr>
            <a:spLocks noGrp="1"/>
          </p:cNvSpPr>
          <p:nvPr/>
        </p:nvSpPr>
        <p:spPr>
          <a:xfrm>
            <a:off x="609600" y="5943600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65 m 为估计；12 s 为观测年龄；35% 为该次覆盖，三者含义不同。</a:t>
            </a:r>
            <a:endParaRPr sz="172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-73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04  动作设计</a:t>
            </a:r>
            <a:endParaRPr sz="165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" name="text-74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动作是六类请求，车辆运动连续执行</a:t>
            </a:r>
            <a:endParaRPr sz="36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4" name="text-75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动作空间离散；底层驾驶规则处理跟车、制动、红灯等待与安全约束</a:t>
            </a:r>
            <a:endParaRPr sz="1800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5" name="text-76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609600" y="2152650"/>
          <a:ext cx="10972800" cy="3562350"/>
        </p:xfrm>
        <a:graphic>
          <a:graphicData uri="http://schemas.openxmlformats.org/drawingml/2006/table">
            <a:tbl>
              <a:tblPr/>
              <a:tblGrid>
                <a:gridCol w="1000125"/>
                <a:gridCol w="3619500"/>
                <a:gridCol w="6353175"/>
              </a:tblGrid>
              <a:tr h="508907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编号</a:t>
                      </a:r>
                      <a:endParaRPr sz="1800" b="1">
                        <a:solidFill>
                          <a:srgbClr val="FFFFFF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0B203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动作请求</a:t>
                      </a:r>
                      <a:endParaRPr sz="1800" b="1">
                        <a:solidFill>
                          <a:srgbClr val="FFFFFF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0B203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目标与执行语义</a:t>
                      </a:r>
                      <a:endParaRPr sz="1800" b="1">
                        <a:solidFill>
                          <a:srgbClr val="FFFFFF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0B2038"/>
                    </a:solidFill>
                  </a:tcPr>
                </a:tc>
              </a:tr>
              <a:tr h="508907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0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继续当前任务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保留既有任务；无任务时执行预设合法路线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</a:tr>
              <a:tr h="508907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1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请求左邻车道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锁定当前合法左邻车道片段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</a:tr>
              <a:tr h="508907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2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请求右邻车道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锁定当前合法右邻车道片段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</a:tr>
              <a:tr h="508907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3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选择下一路口左转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提前规划并承诺具体左转连接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</a:tr>
              <a:tr h="508907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4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选择下一路口直行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提前规划并承诺具体直行连接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</a:tr>
              <a:tr h="508907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5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选择下一路口右转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提前规划并承诺具体右转连接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-77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09</a:t>
            </a:r>
            <a:endParaRPr sz="1575" b="0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11" name="added-9-117"/>
          <p:cNvSpPr>
            <a:spLocks noGrp="1"/>
          </p:cNvSpPr>
          <p:nvPr/>
        </p:nvSpPr>
        <p:spPr>
          <a:xfrm>
            <a:off x="609600" y="5895975"/>
            <a:ext cx="109728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用动作掩码筛选允许请求；执行中按任务阶段限制重规划。</a:t>
            </a:r>
            <a:endParaRPr sz="210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text-78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04  动作持续与交互时间</a:t>
            </a:r>
            <a:endParaRPr sz="165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" name="text-79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一次右转，跨越多个强化学习交互步</a:t>
            </a:r>
            <a:endParaRPr sz="36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3076575"/>
            <a:ext cx="114300" cy="114300"/>
          </a:xfrm>
          <a:prstGeom prst="rect">
            <a:avLst/>
          </a:prstGeom>
          <a:solidFill>
            <a:srgbClr val="007E87"/>
          </a:solidFill>
          <a:ln w="0">
            <a:noFill/>
            <a:prstDash val="solid"/>
          </a:ln>
        </p:spPr>
      </p:sp>
      <p:sp>
        <p:nvSpPr>
          <p:cNvPr id="4" name="text-80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示意：RL 每 1 s 交互；某次右转执行 5 s；数值为初始解释设置</a:t>
            </a:r>
            <a:endParaRPr sz="1800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5" name="text-81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610100" y="3076575"/>
            <a:ext cx="114300" cy="114300"/>
          </a:xfrm>
          <a:prstGeom prst="rect">
            <a:avLst/>
          </a:prstGeom>
          <a:solidFill>
            <a:srgbClr val="007E87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477250" y="3076575"/>
            <a:ext cx="114300" cy="114300"/>
          </a:xfrm>
          <a:prstGeom prst="rect">
            <a:avLst/>
          </a:prstGeom>
          <a:solidFill>
            <a:srgbClr val="007E87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572125"/>
            <a:ext cx="10972800" cy="619125"/>
          </a:xfrm>
          <a:prstGeom prst="rect">
            <a:avLst/>
          </a:prstGeom>
          <a:solidFill>
            <a:srgbClr val="F4F7FA"/>
          </a:solidFill>
          <a:ln w="0">
            <a:noFill/>
            <a:prstDash val="solid"/>
          </a:ln>
        </p:spPr>
      </p:sp>
      <p:sp>
        <p:nvSpPr>
          <p:cNvPr id="10" name="text-82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10</a:t>
            </a:r>
            <a:endParaRPr sz="1575" b="0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1" name="text-83"/>
          <p:cNvSpPr>
            <a:spLocks noGrp="1"/>
          </p:cNvSpPr>
          <p:nvPr/>
        </p:nvSpPr>
        <p:spPr>
          <a:xfrm>
            <a:off x="609600" y="2343150"/>
            <a:ext cx="3219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225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0 s</a:t>
            </a:r>
            <a:endParaRPr sz="3225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2" name="text-84"/>
          <p:cNvSpPr>
            <a:spLocks noGrp="1"/>
          </p:cNvSpPr>
          <p:nvPr/>
        </p:nvSpPr>
        <p:spPr>
          <a:xfrm>
            <a:off x="609600" y="3467100"/>
            <a:ext cx="3219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75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提交右转</a:t>
            </a:r>
            <a:endParaRPr sz="2475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3" name="text-85"/>
          <p:cNvSpPr>
            <a:spLocks noGrp="1"/>
          </p:cNvSpPr>
          <p:nvPr/>
        </p:nvSpPr>
        <p:spPr>
          <a:xfrm>
            <a:off x="609600" y="4162425"/>
            <a:ext cx="32194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a = 5：选择右转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锁定任务目标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4" name="text-86"/>
          <p:cNvSpPr>
            <a:spLocks noGrp="1"/>
          </p:cNvSpPr>
          <p:nvPr/>
        </p:nvSpPr>
        <p:spPr>
          <a:xfrm>
            <a:off x="4476750" y="2343150"/>
            <a:ext cx="3219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225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1–4 s</a:t>
            </a:r>
            <a:endParaRPr sz="3225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5" name="text-87"/>
          <p:cNvSpPr>
            <a:spLocks noGrp="1"/>
          </p:cNvSpPr>
          <p:nvPr/>
        </p:nvSpPr>
        <p:spPr>
          <a:xfrm>
            <a:off x="4476750" y="3467100"/>
            <a:ext cx="3219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75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持续执行</a:t>
            </a:r>
            <a:endParaRPr sz="2475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6" name="text-88"/>
          <p:cNvSpPr>
            <a:spLocks noGrp="1"/>
          </p:cNvSpPr>
          <p:nvPr/>
        </p:nvSpPr>
        <p:spPr>
          <a:xfrm>
            <a:off x="4476750" y="4162425"/>
            <a:ext cx="32194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a = 0：继续任务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观测、估计和奖励照常更新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7" name="text-89"/>
          <p:cNvSpPr>
            <a:spLocks noGrp="1"/>
          </p:cNvSpPr>
          <p:nvPr/>
        </p:nvSpPr>
        <p:spPr>
          <a:xfrm>
            <a:off x="8343900" y="2343150"/>
            <a:ext cx="3219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225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5 s</a:t>
            </a:r>
            <a:endParaRPr sz="3225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8" name="text-90"/>
          <p:cNvSpPr>
            <a:spLocks noGrp="1"/>
          </p:cNvSpPr>
          <p:nvPr/>
        </p:nvSpPr>
        <p:spPr>
          <a:xfrm>
            <a:off x="8343900" y="3467100"/>
            <a:ext cx="3219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75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完成后再选择</a:t>
            </a:r>
            <a:endParaRPr sz="2475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9" name="text-91"/>
          <p:cNvSpPr>
            <a:spLocks noGrp="1"/>
          </p:cNvSpPr>
          <p:nvPr/>
        </p:nvSpPr>
        <p:spPr>
          <a:xfrm>
            <a:off x="8343900" y="4162425"/>
            <a:ext cx="32194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根据新的可见信息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选择后续合法请求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800100" y="3133725"/>
            <a:ext cx="10372725" cy="0"/>
          </a:xfrm>
          <a:prstGeom prst="line">
            <a:avLst/>
          </a:prstGeom>
          <a:noFill/>
          <a:ln w="28575">
            <a:solidFill>
              <a:srgbClr val="007E87"/>
            </a:solidFill>
            <a:prstDash val="solid"/>
          </a:ln>
        </p:spPr>
      </p:sp>
      <p:sp>
        <p:nvSpPr>
          <p:cNvPr id="23" name="added-10-135"/>
          <p:cNvSpPr>
            <a:spLocks noGrp="1"/>
          </p:cNvSpPr>
          <p:nvPr/>
        </p:nvSpPr>
        <p:spPr>
          <a:xfrm>
            <a:off x="771525" y="5705475"/>
            <a:ext cx="106584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物理仿真可用更小步长（如 0.1 s）；一个 RL 步内执行多次仿真推进。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text-115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05  奖励设计</a:t>
            </a:r>
            <a:endParaRPr sz="165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" name="text-116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奖励直接对应全路口估计误差</a:t>
            </a:r>
            <a:endParaRPr sz="36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33625"/>
            <a:ext cx="10972800" cy="1228725"/>
          </a:xfrm>
          <a:prstGeom prst="rect">
            <a:avLst/>
          </a:prstGeom>
          <a:solidFill>
            <a:srgbClr val="0B2038"/>
          </a:solidFill>
          <a:ln w="0">
            <a:noFill/>
            <a:prstDash val="solid"/>
          </a:ln>
        </p:spPr>
      </p:sp>
      <p:sp>
        <p:nvSpPr>
          <p:cNvPr id="4" name="text-117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同一时刻、固定目标车道集合、统一米制排队定义</a:t>
            </a:r>
            <a:endParaRPr sz="1800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5" name="text-118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6" name="text-119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11</a:t>
            </a:r>
            <a:endParaRPr sz="1575" b="0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7" name="text-120"/>
          <p:cNvSpPr>
            <a:spLocks noGrp="1"/>
          </p:cNvSpPr>
          <p:nvPr/>
        </p:nvSpPr>
        <p:spPr>
          <a:xfrm>
            <a:off x="809625" y="2562225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625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 u="none">
                <a:solidFill>
                  <a:srgbClr val="FFFFFF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每步奖励 = −过程误差代价 −末步追加的终点误差代价</a:t>
            </a:r>
            <a:endParaRPr sz="2625" b="1" u="none">
              <a:solidFill>
                <a:srgbClr val="FFFFFF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8" name="text-121"/>
          <p:cNvSpPr>
            <a:spLocks noGrp="1"/>
          </p:cNvSpPr>
          <p:nvPr/>
        </p:nvSpPr>
        <p:spPr>
          <a:xfrm>
            <a:off x="809625" y="3171825"/>
            <a:ext cx="10572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C4D8E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C4D8E2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过程项按该步时长占总预算的比例计入；终点项只计一次。</a:t>
            </a:r>
            <a:endParaRPr sz="1800" b="0" u="none">
              <a:solidFill>
                <a:srgbClr val="C4D8E2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0" name="text-122"/>
          <p:cNvSpPr>
            <a:spLocks noGrp="1"/>
          </p:cNvSpPr>
          <p:nvPr/>
        </p:nvSpPr>
        <p:spPr>
          <a:xfrm>
            <a:off x="609600" y="4010025"/>
            <a:ext cx="4895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75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当前建议目标</a:t>
            </a:r>
            <a:endParaRPr sz="2475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1" name="text-123"/>
          <p:cNvSpPr>
            <a:spLocks noGrp="1"/>
          </p:cNvSpPr>
          <p:nvPr/>
        </p:nvSpPr>
        <p:spPr>
          <a:xfrm>
            <a:off x="609600" y="4695825"/>
            <a:ext cx="5057775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7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同时降低预算内平均误差</a:t>
            </a:r>
            <a:endParaRPr sz="217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  <a:p>
            <a:pPr algn="l">
              <a:buNone/>
              <a:defRPr sz="217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和结束时误差：α=1，β=1。</a:t>
            </a:r>
            <a:endParaRPr sz="217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14" name="added-11-145"/>
          <p:cNvSpPr>
            <a:spLocks noGrp="1"/>
          </p:cNvSpPr>
          <p:nvPr/>
        </p:nvSpPr>
        <p:spPr>
          <a:xfrm>
            <a:off x="6667500" y="4010025"/>
            <a:ext cx="4914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75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必须明确的选择</a:t>
            </a:r>
            <a:endParaRPr sz="2475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5" name="added-11-145"/>
          <p:cNvSpPr>
            <a:spLocks noGrp="1"/>
          </p:cNvSpPr>
          <p:nvPr/>
        </p:nvSpPr>
        <p:spPr>
          <a:xfrm>
            <a:off x="6667500" y="4695825"/>
            <a:ext cx="491490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如果只关心最终状态：α=0。</a:t>
            </a:r>
            <a:endParaRPr sz="2100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  <a:p>
            <a:pPr algn="l">
              <a:defRPr sz="210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这会改变目标，需要由任务需求决定。</a:t>
            </a:r>
            <a:endParaRPr sz="2100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6" name="added-11-145"/>
          <p:cNvSpPr>
            <a:spLocks noGrp="1"/>
          </p:cNvSpPr>
          <p:nvPr/>
        </p:nvSpPr>
        <p:spPr>
          <a:xfrm>
            <a:off x="609600" y="5810250"/>
            <a:ext cx="109728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不奖励“访问新格”；重复观测是否有价值，由估计任务决定。</a:t>
            </a:r>
            <a:endParaRPr sz="210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-16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06  仿真环境</a:t>
            </a:r>
            <a:endParaRPr sz="165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" name="text-17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建议以 SUMO + TraCI 构建首版交互环境</a:t>
            </a:r>
            <a:endParaRPr sz="36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4" name="text-18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交通仿真负责演化；感知限制与状态估计由独立模块负责</a:t>
            </a:r>
            <a:endParaRPr sz="1800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5" name="text-19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609600" y="2152650"/>
          <a:ext cx="10972800" cy="3276600"/>
        </p:xfrm>
        <a:graphic>
          <a:graphicData uri="http://schemas.openxmlformats.org/drawingml/2006/table">
            <a:tbl>
              <a:tblPr/>
              <a:tblGrid>
                <a:gridCol w="2381250"/>
                <a:gridCol w="4476750"/>
                <a:gridCol w="4114800"/>
              </a:tblGrid>
              <a:tr h="65532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模块</a:t>
                      </a:r>
                      <a:endParaRPr sz="1800" b="1">
                        <a:solidFill>
                          <a:srgbClr val="FFFFFF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0B203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负责什么</a:t>
                      </a:r>
                      <a:endParaRPr sz="1800" b="1">
                        <a:solidFill>
                          <a:srgbClr val="FFFFFF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0B203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输出到哪里</a:t>
                      </a:r>
                      <a:endParaRPr sz="1800" b="1">
                        <a:solidFill>
                          <a:srgbClr val="FFFFFF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0B2038"/>
                    </a:solidFill>
                  </a:tcPr>
                </a:tc>
              </a:tr>
              <a:tr h="65532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SUMO 交通世界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车道、车辆、信号及驾驶交互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车辆与交通状态随时间演化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TraCI 交互接口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推进仿真，查询变量，提交控制请求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连接策略与驾驶执行逻辑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</a:tr>
              <a:tr h="65532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局部传感模型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量程、视场、遮挡、噪声与漏检过滤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仅将可观测片段交给估计器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估计器 / 评价器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估计器更新队列；评价器读取标签算误差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00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策略观测 / 训练奖励分别产生</a:t>
                      </a:r>
                      <a:endParaRPr sz="1800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-20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12</a:t>
            </a:r>
            <a:endParaRPr sz="1575" b="0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11" name="added-12-151"/>
          <p:cNvSpPr>
            <a:spLocks noGrp="1"/>
          </p:cNvSpPr>
          <p:nvPr/>
        </p:nvSpPr>
        <p:spPr>
          <a:xfrm>
            <a:off x="609600" y="5810250"/>
            <a:ext cx="109728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TraCI 能读到全局变量，不意味着探测车可以把这些变量当作传感观测。</a:t>
            </a:r>
            <a:endParaRPr sz="210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text-33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06  仿真交互</a:t>
            </a:r>
            <a:endParaRPr sz="165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" name="text-34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一次 RL 交互步，具体发生六件事</a:t>
            </a:r>
            <a:endParaRPr sz="36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190750"/>
            <a:ext cx="3086100" cy="1304925"/>
          </a:xfrm>
          <a:prstGeom prst="rect">
            <a:avLst/>
          </a:prstGeom>
          <a:solidFill>
            <a:srgbClr val="EAF5F5"/>
          </a:solidFill>
          <a:ln w="0">
            <a:noFill/>
            <a:prstDash val="solid"/>
          </a:ln>
        </p:spPr>
      </p:sp>
      <p:sp>
        <p:nvSpPr>
          <p:cNvPr id="4" name="text-35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在固定时间节拍下交换观测、动作与奖励；动作执行状态可以跨步保留</a:t>
            </a:r>
            <a:endParaRPr sz="1800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5" name="text-36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6" name="text-37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13</a:t>
            </a:r>
            <a:endParaRPr sz="1575" b="0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7" name="text-38"/>
          <p:cNvSpPr>
            <a:spLocks noGrp="1"/>
          </p:cNvSpPr>
          <p:nvPr/>
        </p:nvSpPr>
        <p:spPr>
          <a:xfrm>
            <a:off x="771525" y="2352675"/>
            <a:ext cx="2762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① 读取当前观测</a:t>
            </a:r>
            <a:endParaRPr sz="24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8" name="text-39"/>
          <p:cNvSpPr>
            <a:spLocks noGrp="1"/>
          </p:cNvSpPr>
          <p:nvPr/>
        </p:nvSpPr>
        <p:spPr>
          <a:xfrm>
            <a:off x="771525" y="2876550"/>
            <a:ext cx="27622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自车 + 估计 + 任务 + 掩码</a:t>
            </a:r>
            <a:endParaRPr sz="172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9" name="text-40"/>
          <p:cNvSpPr>
            <a:spLocks noGrp="1"/>
          </p:cNvSpPr>
          <p:nvPr/>
        </p:nvSpPr>
        <p:spPr>
          <a:xfrm>
            <a:off x="4371975" y="2352675"/>
            <a:ext cx="27717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FFFFFF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② 采样合法请求</a:t>
            </a:r>
            <a:endParaRPr sz="2400" b="1" u="none">
              <a:solidFill>
                <a:srgbClr val="FFFFFF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210050" y="2190750"/>
            <a:ext cx="3095625" cy="1304925"/>
          </a:xfrm>
          <a:prstGeom prst="rect">
            <a:avLst/>
          </a:prstGeom>
          <a:solidFill>
            <a:srgbClr val="0B2038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20025" y="2190750"/>
            <a:ext cx="3762375" cy="1304925"/>
          </a:xfrm>
          <a:prstGeom prst="rect">
            <a:avLst/>
          </a:prstGeom>
          <a:solidFill>
            <a:srgbClr val="EAF5F5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4162425"/>
            <a:ext cx="3086100" cy="1304925"/>
          </a:xfrm>
          <a:prstGeom prst="rect">
            <a:avLst/>
          </a:prstGeom>
          <a:solidFill>
            <a:srgbClr val="0B2038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210050" y="4162425"/>
            <a:ext cx="3095625" cy="1304925"/>
          </a:xfrm>
          <a:prstGeom prst="rect">
            <a:avLst/>
          </a:prstGeom>
          <a:solidFill>
            <a:srgbClr val="EAF5F5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820025" y="4162425"/>
            <a:ext cx="3762375" cy="1304925"/>
          </a:xfrm>
          <a:prstGeom prst="rect">
            <a:avLst/>
          </a:prstGeom>
          <a:solidFill>
            <a:srgbClr val="EAF5F5"/>
          </a:solidFill>
          <a:ln w="0">
            <a:noFill/>
            <a:prstDash val="solid"/>
          </a:ln>
        </p:spPr>
      </p:sp>
      <p:sp>
        <p:nvSpPr>
          <p:cNvPr id="15" name="text-41"/>
          <p:cNvSpPr>
            <a:spLocks noGrp="1"/>
          </p:cNvSpPr>
          <p:nvPr/>
        </p:nvSpPr>
        <p:spPr>
          <a:xfrm>
            <a:off x="4371975" y="2876550"/>
            <a:ext cx="27717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B9D2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B9D2DC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PPO 根据 o 选择 a</a:t>
            </a:r>
            <a:endParaRPr sz="1725" b="0" u="none">
              <a:solidFill>
                <a:srgbClr val="B9D2DC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6" name="text-42"/>
          <p:cNvSpPr>
            <a:spLocks noGrp="1"/>
          </p:cNvSpPr>
          <p:nvPr/>
        </p:nvSpPr>
        <p:spPr>
          <a:xfrm>
            <a:off x="7981950" y="2352675"/>
            <a:ext cx="34385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③ 提交给驾驶器</a:t>
            </a:r>
            <a:endParaRPr sz="24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7" name="text-43"/>
          <p:cNvSpPr>
            <a:spLocks noGrp="1"/>
          </p:cNvSpPr>
          <p:nvPr/>
        </p:nvSpPr>
        <p:spPr>
          <a:xfrm>
            <a:off x="7981950" y="2876550"/>
            <a:ext cx="34385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新建任务，或继续现有任务</a:t>
            </a:r>
            <a:endParaRPr sz="172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8" name="text-44"/>
          <p:cNvSpPr>
            <a:spLocks noGrp="1"/>
          </p:cNvSpPr>
          <p:nvPr/>
        </p:nvSpPr>
        <p:spPr>
          <a:xfrm>
            <a:off x="771525" y="4324350"/>
            <a:ext cx="2762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FFFFFF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⑥ 返回训练样本</a:t>
            </a:r>
            <a:endParaRPr sz="2400" b="1" u="none">
              <a:solidFill>
                <a:srgbClr val="FFFFFF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19" name="text-45"/>
          <p:cNvSpPr>
            <a:spLocks noGrp="1"/>
          </p:cNvSpPr>
          <p:nvPr/>
        </p:nvSpPr>
        <p:spPr>
          <a:xfrm>
            <a:off x="771525" y="4848225"/>
            <a:ext cx="27622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B9D2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B9D2DC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o、a、r、o′、结束标志</a:t>
            </a:r>
            <a:endParaRPr sz="1725" b="0" u="none">
              <a:solidFill>
                <a:srgbClr val="B9D2DC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0" name="text-46"/>
          <p:cNvSpPr>
            <a:spLocks noGrp="1"/>
          </p:cNvSpPr>
          <p:nvPr/>
        </p:nvSpPr>
        <p:spPr>
          <a:xfrm>
            <a:off x="4371975" y="4324350"/>
            <a:ext cx="27717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⑤ 更新估计与误差</a:t>
            </a:r>
            <a:endParaRPr sz="24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1" name="text-47"/>
          <p:cNvSpPr>
            <a:spLocks noGrp="1"/>
          </p:cNvSpPr>
          <p:nvPr/>
        </p:nvSpPr>
        <p:spPr>
          <a:xfrm>
            <a:off x="4371975" y="4848225"/>
            <a:ext cx="27717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局部信息更新 Q / 标签评误差</a:t>
            </a:r>
            <a:endParaRPr sz="172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2" name="text-48"/>
          <p:cNvSpPr>
            <a:spLocks noGrp="1"/>
          </p:cNvSpPr>
          <p:nvPr/>
        </p:nvSpPr>
        <p:spPr>
          <a:xfrm>
            <a:off x="7981950" y="4324350"/>
            <a:ext cx="34385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④ 推进多个仿真小步</a:t>
            </a:r>
            <a:endParaRPr sz="24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3" name="text-49"/>
          <p:cNvSpPr>
            <a:spLocks noGrp="1"/>
          </p:cNvSpPr>
          <p:nvPr/>
        </p:nvSpPr>
        <p:spPr>
          <a:xfrm>
            <a:off x="7981950" y="4848225"/>
            <a:ext cx="34385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交通演化 + 采集新的局部观测</a:t>
            </a:r>
            <a:endParaRPr sz="172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4" name="text-50"/>
          <p:cNvSpPr>
            <a:spLocks noGrp="1"/>
          </p:cNvSpPr>
          <p:nvPr/>
        </p:nvSpPr>
        <p:spPr>
          <a:xfrm>
            <a:off x="609600" y="5810250"/>
            <a:ext cx="109728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预算耗尽结束回合；退出目标区继续计时；失败不能通过少计负奖励获利。</a:t>
            </a:r>
            <a:endParaRPr sz="210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3695700" y="2771775"/>
            <a:ext cx="514350" cy="0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1" name="等腰三角形 30"/>
          <p:cNvSpPr>
            <a:spLocks noGrp="1"/>
          </p:cNvSpPr>
          <p:nvPr/>
        </p:nvSpPr>
        <p:spPr>
          <a:xfrm rot="5400000">
            <a:off x="4162425" y="2724150"/>
            <a:ext cx="95250" cy="95250"/>
          </a:xfrm>
          <a:prstGeom prst="triangle">
            <a:avLst/>
          </a:prstGeom>
          <a:solidFill>
            <a:srgbClr val="007E87"/>
          </a:solidFill>
          <a:ln w="0">
            <a:noFill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7305675" y="2771775"/>
            <a:ext cx="514350" cy="0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3" name="等腰三角形 32"/>
          <p:cNvSpPr>
            <a:spLocks noGrp="1"/>
          </p:cNvSpPr>
          <p:nvPr/>
        </p:nvSpPr>
        <p:spPr>
          <a:xfrm rot="5400000">
            <a:off x="7772400" y="2724150"/>
            <a:ext cx="95250" cy="95250"/>
          </a:xfrm>
          <a:prstGeom prst="triangle">
            <a:avLst/>
          </a:prstGeom>
          <a:solidFill>
            <a:srgbClr val="007E87"/>
          </a:solidFill>
          <a:ln w="0">
            <a:noFill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9553575" y="3505200"/>
            <a:ext cx="0" cy="657225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5" name="等腰三角形 34"/>
          <p:cNvSpPr>
            <a:spLocks noGrp="1"/>
          </p:cNvSpPr>
          <p:nvPr/>
        </p:nvSpPr>
        <p:spPr>
          <a:xfrm rot="10800000">
            <a:off x="9505950" y="4114800"/>
            <a:ext cx="95250" cy="95250"/>
          </a:xfrm>
          <a:prstGeom prst="triangle">
            <a:avLst/>
          </a:prstGeom>
          <a:solidFill>
            <a:srgbClr val="007E87"/>
          </a:solidFill>
          <a:ln w="0">
            <a:noFill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7305675" y="4686300"/>
            <a:ext cx="514350" cy="0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7" name="等腰三角形 36"/>
          <p:cNvSpPr>
            <a:spLocks noGrp="1"/>
          </p:cNvSpPr>
          <p:nvPr/>
        </p:nvSpPr>
        <p:spPr>
          <a:xfrm rot="16200000">
            <a:off x="7258050" y="4638675"/>
            <a:ext cx="95250" cy="95250"/>
          </a:xfrm>
          <a:prstGeom prst="triangle">
            <a:avLst/>
          </a:prstGeom>
          <a:solidFill>
            <a:srgbClr val="007E87"/>
          </a:solidFill>
          <a:ln w="0">
            <a:noFill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3695700" y="4686300"/>
            <a:ext cx="514350" cy="0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9" name="等腰三角形 38"/>
          <p:cNvSpPr>
            <a:spLocks noGrp="1"/>
          </p:cNvSpPr>
          <p:nvPr/>
        </p:nvSpPr>
        <p:spPr>
          <a:xfrm rot="16200000">
            <a:off x="3648075" y="4638675"/>
            <a:ext cx="95250" cy="95250"/>
          </a:xfrm>
          <a:prstGeom prst="triangle">
            <a:avLst/>
          </a:prstGeom>
          <a:solidFill>
            <a:srgbClr val="007E87"/>
          </a:solidFill>
          <a:ln w="0"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xt-3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06  训练与数据</a:t>
            </a:r>
            <a:endParaRPr sz="165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" name="text-4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重复训练交通分布，保留可复现的评价条件</a:t>
            </a:r>
            <a:endParaRPr sz="36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705475"/>
            <a:ext cx="10972800" cy="504825"/>
          </a:xfrm>
          <a:prstGeom prst="rect">
            <a:avLst/>
          </a:prstGeom>
          <a:solidFill>
            <a:srgbClr val="EAF5F5"/>
          </a:solidFill>
          <a:ln w="0">
            <a:noFill/>
            <a:prstDash val="solid"/>
          </a:ln>
        </p:spPr>
      </p:sp>
      <p:sp>
        <p:nvSpPr>
          <p:cNvPr id="4" name="text-5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学习的是可复用策略；一条轨迹是一个回合的交互记录</a:t>
            </a:r>
            <a:endParaRPr sz="1800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5" name="text-6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6" name="text-7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14</a:t>
            </a:r>
            <a:endParaRPr sz="1575" b="0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7" name="text-8"/>
          <p:cNvSpPr>
            <a:spLocks noGrp="1"/>
          </p:cNvSpPr>
          <p:nvPr/>
        </p:nvSpPr>
        <p:spPr>
          <a:xfrm>
            <a:off x="609600" y="2314575"/>
            <a:ext cx="5095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625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训练：让交通条件变化</a:t>
            </a:r>
            <a:endParaRPr sz="2625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8" name="text-9"/>
          <p:cNvSpPr>
            <a:spLocks noGrp="1"/>
          </p:cNvSpPr>
          <p:nvPr/>
        </p:nvSpPr>
        <p:spPr>
          <a:xfrm>
            <a:off x="609600" y="3114675"/>
            <a:ext cx="5095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改变流量、转向比例、需求时变性</a:t>
            </a:r>
            <a:endParaRPr sz="2100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9" name="text-10"/>
          <p:cNvSpPr>
            <a:spLocks noGrp="1"/>
          </p:cNvSpPr>
          <p:nvPr/>
        </p:nvSpPr>
        <p:spPr>
          <a:xfrm>
            <a:off x="609600" y="3867150"/>
            <a:ext cx="5095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改变初始队列、信号方案与随机种子</a:t>
            </a:r>
            <a:endParaRPr sz="2100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0" name="text-11"/>
          <p:cNvSpPr>
            <a:spLocks noGrp="1"/>
          </p:cNvSpPr>
          <p:nvPr/>
        </p:nvSpPr>
        <p:spPr>
          <a:xfrm>
            <a:off x="609600" y="4619625"/>
            <a:ext cx="5095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逐步加入感知噪声和遮挡变化</a:t>
            </a:r>
            <a:endParaRPr sz="2100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1" name="text-12"/>
          <p:cNvSpPr>
            <a:spLocks noGrp="1"/>
          </p:cNvSpPr>
          <p:nvPr/>
        </p:nvSpPr>
        <p:spPr>
          <a:xfrm>
            <a:off x="6667500" y="2314575"/>
            <a:ext cx="4914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625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评价：条件分组且可重复</a:t>
            </a:r>
            <a:endParaRPr sz="2625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2" name="text-13"/>
          <p:cNvSpPr>
            <a:spLocks noGrp="1"/>
          </p:cNvSpPr>
          <p:nvPr/>
        </p:nvSpPr>
        <p:spPr>
          <a:xfrm>
            <a:off x="6667500" y="3114675"/>
            <a:ext cx="4914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不同策略使用相同测试场景与种子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3" name="text-14"/>
          <p:cNvSpPr>
            <a:spLocks noGrp="1"/>
          </p:cNvSpPr>
          <p:nvPr/>
        </p:nvSpPr>
        <p:spPr>
          <a:xfrm>
            <a:off x="6667500" y="3867150"/>
            <a:ext cx="4914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训练、验证、测试按场景组划分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4" name="text-15"/>
          <p:cNvSpPr>
            <a:spLocks noGrp="1"/>
          </p:cNvSpPr>
          <p:nvPr/>
        </p:nvSpPr>
        <p:spPr>
          <a:xfrm>
            <a:off x="6667500" y="4619625"/>
            <a:ext cx="4914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同一种子不保证干预后车辆轨迹相同</a:t>
            </a:r>
            <a:endParaRPr sz="2025" b="0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17" name="added-14-189"/>
          <p:cNvSpPr>
            <a:spLocks noGrp="1"/>
          </p:cNvSpPr>
          <p:nvPr/>
        </p:nvSpPr>
        <p:spPr>
          <a:xfrm>
            <a:off x="781050" y="5781675"/>
            <a:ext cx="1062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轨迹记录：（o₀, a₀, r₀, …, oₜ）+ 场景条件；包含表现较好且多样的经验。</a:t>
            </a:r>
            <a:endParaRPr sz="195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-146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07  科学验证</a:t>
            </a:r>
            <a:endParaRPr sz="165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" name="text-147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先验证“信息有用”，再验证“决策有效”</a:t>
            </a:r>
            <a:endParaRPr sz="36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4" name="text-148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评价计划：固定同一估计器、同一感知条件、同一探测预算进行比较</a:t>
            </a:r>
            <a:endParaRPr sz="1800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5" name="text-149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609600" y="2152650"/>
          <a:ext cx="10972800" cy="3076575"/>
        </p:xfrm>
        <a:graphic>
          <a:graphicData uri="http://schemas.openxmlformats.org/drawingml/2006/table">
            <a:tbl>
              <a:tblPr/>
              <a:tblGrid>
                <a:gridCol w="2381250"/>
                <a:gridCol w="8591550"/>
              </a:tblGrid>
              <a:tr h="61531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验证层面</a:t>
                      </a:r>
                      <a:endParaRPr sz="1875" b="1">
                        <a:solidFill>
                          <a:srgbClr val="FFFFFF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0B203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比较与指标</a:t>
                      </a:r>
                      <a:endParaRPr sz="1875" b="1">
                        <a:solidFill>
                          <a:srgbClr val="FFFFFF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0B2038"/>
                    </a:solidFill>
                  </a:tcPr>
                </a:tc>
              </a:tr>
              <a:tr h="61531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状态估计能力</a:t>
                      </a:r>
                      <a:endParaRPr sz="1875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给定片段能否估计未观测车道？检查误差与区间校准。</a:t>
                      </a:r>
                      <a:endParaRPr sz="1875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</a:tr>
              <a:tr h="61531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主动决策收益</a:t>
                      </a:r>
                      <a:endParaRPr sz="1875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比较固定巡视、随机合法、信息贪心与 PPO 探测。</a:t>
                      </a:r>
                      <a:endParaRPr sz="1875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</a:tr>
              <a:tr h="61531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任务表现</a:t>
                      </a:r>
                      <a:endParaRPr sz="1875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过程 / 终点队列误差；耗时、失败率与背景交通延误。</a:t>
                      </a:r>
                      <a:endParaRPr sz="1875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</a:tr>
              <a:tr h="61531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稳健与泛化</a:t>
                      </a:r>
                      <a:endParaRPr sz="1875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留出交通需求和信号组合；多随机种子报告波动。</a:t>
                      </a:r>
                      <a:endParaRPr sz="1875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-150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15</a:t>
            </a:r>
            <a:endParaRPr sz="1575" b="0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11" name="added-15-195"/>
          <p:cNvSpPr>
            <a:spLocks noGrp="1"/>
          </p:cNvSpPr>
          <p:nvPr/>
        </p:nvSpPr>
        <p:spPr>
          <a:xfrm>
            <a:off x="609600" y="5543550"/>
            <a:ext cx="109728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建议消融：移除不确定性 / 信息年龄；改变奖励目标；改变感知范围。</a:t>
            </a:r>
            <a:endParaRPr sz="2025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-146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07  当前方案与下一步</a:t>
            </a:r>
            <a:endParaRPr sz="1650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2" name="text-147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框架已明确，关键接口需要先固定</a:t>
            </a:r>
            <a:endParaRPr sz="3600" b="1" u="none">
              <a:solidFill>
                <a:srgbClr val="18304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4" name="text-148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研究路径：先打通估计—决策闭环，再逐步提高复杂度</a:t>
            </a:r>
            <a:endParaRPr sz="1800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5" name="text-149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609600" y="2152650"/>
          <a:ext cx="10972800" cy="3000375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6000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已明确的主线</a:t>
                      </a:r>
                      <a:endParaRPr sz="1875" b="1">
                        <a:solidFill>
                          <a:srgbClr val="FFFFFF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0B203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尚待讨论与验证</a:t>
                      </a:r>
                      <a:endParaRPr sz="1875" b="1">
                        <a:solidFill>
                          <a:srgbClr val="FFFFFF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0B2038"/>
                    </a:solidFill>
                  </a:tcPr>
                </a:tc>
              </a:tr>
              <a:tr h="6000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单车 / 单目标路口 / 合法外围返回</a:t>
                      </a:r>
                      <a:endParaRPr sz="1875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目标进口车道、监测长度与队列定义</a:t>
                      </a:r>
                      <a:endParaRPr sz="1875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车道有向图 + 连续位置；取消固定小格</a:t>
                      </a:r>
                      <a:endParaRPr sz="1875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传感器可见范围、遮挡和噪声条件</a:t>
                      </a:r>
                      <a:endParaRPr sz="1875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</a:tr>
              <a:tr h="6000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六类离散请求 + 持续驾驶执行</a:t>
                      </a:r>
                      <a:endParaRPr sz="1875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估计器结构与预测区间的生成、校准</a:t>
                      </a:r>
                      <a:endParaRPr sz="1875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SimHei" panose="02010609060101010101" charset="-122"/>
                        </a:rPr>
                        <a:t>显式估计器 + 带动作掩码的 PPO</a:t>
                      </a:r>
                      <a:endParaRPr sz="1875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SimHei" panose="02010609060101010101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875" b="0">
                          <a:solidFill>
                            <a:srgbClr val="183047"/>
                          </a:solidFill>
                          <a:latin typeface="SimHei" panose="02010609060101010101" charset="-122"/>
                          <a:ea typeface="SimHei" panose="02010609060101010101" charset="-122"/>
                          <a:cs typeface="Noto Sans CJK SC"/>
                        </a:rPr>
                        <a:t>过程与终点权重；预算及交互间隔</a:t>
                      </a:r>
                      <a:endParaRPr sz="1875" b="0">
                        <a:solidFill>
                          <a:srgbClr val="183047"/>
                        </a:solidFill>
                        <a:latin typeface="SimHei" panose="02010609060101010101" charset="-122"/>
                        <a:ea typeface="SimHei" panose="02010609060101010101" charset="-122"/>
                        <a:cs typeface="Noto Sans CJK SC"/>
                      </a:endParaRPr>
                    </a:p>
                  </a:txBody>
                  <a:tcPr marL="123825" marR="123825" marT="57150" marB="5715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-150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Noto Sans CJK SC"/>
              </a:rPr>
              <a:t>16</a:t>
            </a:r>
            <a:endParaRPr sz="1575" b="0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Noto Sans CJK SC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11" name="added-16-201"/>
          <p:cNvSpPr>
            <a:spLocks noGrp="1"/>
          </p:cNvSpPr>
          <p:nvPr/>
        </p:nvSpPr>
        <p:spPr>
          <a:xfrm>
            <a:off x="609600" y="5600700"/>
            <a:ext cx="10972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u="none">
                <a:solidFill>
                  <a:srgbClr val="007E87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① 固定评价口径      ② 打通单步交互      ③ 跑通基线与对照      ④ 检验泛化</a:t>
            </a:r>
            <a:endParaRPr sz="2025" b="1" u="none">
              <a:solidFill>
                <a:srgbClr val="007E87"/>
              </a:solidFill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text-33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08  后续拓展</a:t>
            </a:r>
            <a:endParaRPr sz="1650" b="1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" name="text-34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Decision Transformer</a:t>
            </a:r>
            <a:r>
              <a:rPr sz="36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：学习可迁移的探测经验</a:t>
            </a:r>
            <a:endParaRPr sz="36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324100"/>
            <a:ext cx="3105150" cy="1209675"/>
          </a:xfrm>
          <a:prstGeom prst="rect">
            <a:avLst/>
          </a:prstGeom>
          <a:solidFill>
            <a:srgbClr val="EAF5F5"/>
          </a:solidFill>
          <a:ln w="0">
            <a:noFill/>
            <a:prstDash val="solid"/>
          </a:ln>
        </p:spPr>
      </p:sp>
      <p:sp>
        <p:nvSpPr>
          <p:cNvPr id="4" name="text-35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作为后续研究方向：在未知交通条件下，根据观测历史闭环预测下一动作</a:t>
            </a:r>
            <a:endParaRPr sz="1800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5" name="text-36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text-37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17</a:t>
            </a:r>
            <a:endParaRPr sz="1575" b="0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7" name="text-38"/>
          <p:cNvSpPr>
            <a:spLocks noGrp="1"/>
          </p:cNvSpPr>
          <p:nvPr/>
        </p:nvSpPr>
        <p:spPr>
          <a:xfrm>
            <a:off x="771525" y="2486025"/>
            <a:ext cx="27813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多场景交互轨迹</a:t>
            </a:r>
            <a:endParaRPr sz="24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8" name="text-39"/>
          <p:cNvSpPr>
            <a:spLocks noGrp="1"/>
          </p:cNvSpPr>
          <p:nvPr/>
        </p:nvSpPr>
        <p:spPr>
          <a:xfrm>
            <a:off x="771525" y="3009900"/>
            <a:ext cx="27813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高质量 + 多样状态覆盖</a:t>
            </a:r>
            <a:endParaRPr sz="1725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text-40"/>
          <p:cNvSpPr>
            <a:spLocks noGrp="1"/>
          </p:cNvSpPr>
          <p:nvPr/>
        </p:nvSpPr>
        <p:spPr>
          <a:xfrm>
            <a:off x="4391025" y="2486025"/>
            <a:ext cx="28956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回报条件序列学习</a:t>
            </a:r>
            <a:endParaRPr sz="2400" b="1" u="none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229100" y="2324100"/>
            <a:ext cx="3219450" cy="1209675"/>
          </a:xfrm>
          <a:prstGeom prst="rect">
            <a:avLst/>
          </a:prstGeom>
          <a:solidFill>
            <a:srgbClr val="0B2038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962900" y="2324100"/>
            <a:ext cx="3619500" cy="1209675"/>
          </a:xfrm>
          <a:prstGeom prst="rect">
            <a:avLst/>
          </a:prstGeom>
          <a:solidFill>
            <a:srgbClr val="EAF5F5"/>
          </a:solidFill>
          <a:ln w="0">
            <a:noFill/>
            <a:prstDash val="solid"/>
          </a:ln>
        </p:spPr>
      </p:sp>
      <p:sp>
        <p:nvSpPr>
          <p:cNvPr id="15" name="text-41"/>
          <p:cNvSpPr>
            <a:spLocks noGrp="1"/>
          </p:cNvSpPr>
          <p:nvPr/>
        </p:nvSpPr>
        <p:spPr>
          <a:xfrm>
            <a:off x="4391025" y="3009900"/>
            <a:ext cx="2895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B9D2D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B9D2D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历史观测 · 动作 · RTG</a:t>
            </a:r>
            <a:endParaRPr sz="1725" b="0" u="none">
              <a:solidFill>
                <a:srgbClr val="B9D2DC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6" name="text-42"/>
          <p:cNvSpPr>
            <a:spLocks noGrp="1"/>
          </p:cNvSpPr>
          <p:nvPr/>
        </p:nvSpPr>
        <p:spPr>
          <a:xfrm>
            <a:off x="8124825" y="2486025"/>
            <a:ext cx="32956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未知交通条件执行</a:t>
            </a:r>
            <a:endParaRPr sz="24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7" name="text-43"/>
          <p:cNvSpPr>
            <a:spLocks noGrp="1"/>
          </p:cNvSpPr>
          <p:nvPr/>
        </p:nvSpPr>
        <p:spPr>
          <a:xfrm>
            <a:off x="8124825" y="3009900"/>
            <a:ext cx="32956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滚动观测 → 合法下一动作</a:t>
            </a:r>
            <a:endParaRPr sz="1725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8" name="text-44"/>
          <p:cNvSpPr>
            <a:spLocks noGrp="1"/>
          </p:cNvSpPr>
          <p:nvPr/>
        </p:nvSpPr>
        <p:spPr>
          <a:xfrm>
            <a:off x="609600" y="4143375"/>
            <a:ext cx="50958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75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先做哪一种泛化</a:t>
            </a:r>
            <a:endParaRPr sz="2475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9" name="text-45"/>
          <p:cNvSpPr>
            <a:spLocks noGrp="1"/>
          </p:cNvSpPr>
          <p:nvPr/>
        </p:nvSpPr>
        <p:spPr>
          <a:xfrm>
            <a:off x="609600" y="4829175"/>
            <a:ext cx="5095875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先检验同一路网的新交通需求。</a:t>
            </a:r>
            <a:endParaRPr sz="2025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跨路网还需处理拓扑和动作编码。</a:t>
            </a:r>
            <a:endParaRPr sz="2025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20" name="text-46"/>
          <p:cNvSpPr>
            <a:spLocks noGrp="1"/>
          </p:cNvSpPr>
          <p:nvPr/>
        </p:nvSpPr>
        <p:spPr>
          <a:xfrm>
            <a:off x="6667500" y="4143375"/>
            <a:ext cx="49149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75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必须解决的接口</a:t>
            </a:r>
            <a:endParaRPr sz="2475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21" name="text-47"/>
          <p:cNvSpPr>
            <a:spLocks noGrp="1"/>
          </p:cNvSpPr>
          <p:nvPr/>
        </p:nvSpPr>
        <p:spPr>
          <a:xfrm>
            <a:off x="6667500" y="4829175"/>
            <a:ext cx="49149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在线真值奖励不可用时，</a:t>
            </a:r>
            <a:endParaRPr sz="2025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RTG 更新需要一致的可计算方案。</a:t>
            </a:r>
            <a:endParaRPr sz="2025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2" name="text-48"/>
          <p:cNvSpPr>
            <a:spLocks noGrp="1"/>
          </p:cNvSpPr>
          <p:nvPr/>
        </p:nvSpPr>
        <p:spPr>
          <a:xfrm>
            <a:off x="609600" y="5905500"/>
            <a:ext cx="109728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采用 Transformer 不等于已获得泛化；需要与 PPO、行为克隆进行独立测试。</a:t>
            </a:r>
            <a:endParaRPr sz="2100" b="1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3714750" y="2867025"/>
            <a:ext cx="514350" cy="0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1" name="等腰三角形 30"/>
          <p:cNvSpPr>
            <a:spLocks noGrp="1"/>
          </p:cNvSpPr>
          <p:nvPr/>
        </p:nvSpPr>
        <p:spPr>
          <a:xfrm rot="5400000">
            <a:off x="4181475" y="2819400"/>
            <a:ext cx="95250" cy="95250"/>
          </a:xfrm>
          <a:prstGeom prst="triangle">
            <a:avLst/>
          </a:prstGeom>
          <a:solidFill>
            <a:srgbClr val="007E87"/>
          </a:solidFill>
          <a:ln w="0">
            <a:noFill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7448550" y="2867025"/>
            <a:ext cx="514350" cy="0"/>
          </a:xfrm>
          <a:prstGeom prst="line">
            <a:avLst/>
          </a:prstGeom>
          <a:noFill/>
          <a:ln w="19050">
            <a:solidFill>
              <a:srgbClr val="007E87"/>
            </a:solidFill>
            <a:prstDash val="solid"/>
          </a:ln>
        </p:spPr>
      </p:sp>
      <p:sp>
        <p:nvSpPr>
          <p:cNvPr id="33" name="等腰三角形 32"/>
          <p:cNvSpPr>
            <a:spLocks noGrp="1"/>
          </p:cNvSpPr>
          <p:nvPr/>
        </p:nvSpPr>
        <p:spPr>
          <a:xfrm rot="5400000">
            <a:off x="7915275" y="2819400"/>
            <a:ext cx="95250" cy="95250"/>
          </a:xfrm>
          <a:prstGeom prst="triangle">
            <a:avLst/>
          </a:prstGeom>
          <a:solidFill>
            <a:srgbClr val="007E87"/>
          </a:solidFill>
          <a:ln w="0"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text-105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附录 A  奖励口径</a:t>
            </a:r>
            <a:endParaRPr sz="1650" b="1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" name="text-106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误差、单步奖励与回合终止如何对应</a:t>
            </a:r>
            <a:endParaRPr sz="36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4" name="text-107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供组会追问：所有目标车道均计入评价；错误输出不能因缺测被删除</a:t>
            </a:r>
            <a:endParaRPr sz="1800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5" name="text-108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text-109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18</a:t>
            </a:r>
            <a:endParaRPr sz="1575" b="0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7" name="text-110"/>
          <p:cNvSpPr>
            <a:spLocks noGrp="1"/>
          </p:cNvSpPr>
          <p:nvPr/>
        </p:nvSpPr>
        <p:spPr>
          <a:xfrm>
            <a:off x="609600" y="2276475"/>
            <a:ext cx="109728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E(t) = 目标车道的平均绝对排队误差；e(t) = E(t) / L_ref</a:t>
            </a:r>
            <a:endParaRPr sz="2325" b="1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text-111"/>
          <p:cNvSpPr>
            <a:spLocks noGrp="1"/>
          </p:cNvSpPr>
          <p:nvPr/>
        </p:nvSpPr>
        <p:spPr>
          <a:xfrm>
            <a:off x="609600" y="3133725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rₖ = −α (ΔTₖ / B) ēₖ − I末步 β e(B)</a:t>
            </a:r>
            <a:endParaRPr sz="315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text-112"/>
          <p:cNvSpPr>
            <a:spLocks noGrp="1"/>
          </p:cNvSpPr>
          <p:nvPr/>
        </p:nvSpPr>
        <p:spPr>
          <a:xfrm>
            <a:off x="609600" y="3971925"/>
            <a:ext cx="109728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ΔTₖ：本步时长；ēₖ：时段平均误差；γ=1 时累计奖励对应负任务代价。</a:t>
            </a:r>
            <a:endParaRPr sz="1950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text-113"/>
          <p:cNvSpPr>
            <a:spLocks noGrp="1"/>
          </p:cNvSpPr>
          <p:nvPr/>
        </p:nvSpPr>
        <p:spPr>
          <a:xfrm>
            <a:off x="609600" y="4972050"/>
            <a:ext cx="21240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普通步算例</a:t>
            </a:r>
            <a:endParaRPr sz="24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1" name="text-114"/>
          <p:cNvSpPr>
            <a:spLocks noGrp="1"/>
          </p:cNvSpPr>
          <p:nvPr/>
        </p:nvSpPr>
        <p:spPr>
          <a:xfrm>
            <a:off x="3057525" y="4972050"/>
            <a:ext cx="8524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B=300 s，ΔT=1 s，L_ref=100 m，α=1：</a:t>
            </a:r>
            <a:endParaRPr sz="2025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buNone/>
              <a:defRPr sz="20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误差 20 m → r=−0.000667；误差 10 m → r=−0.000333。</a:t>
            </a:r>
            <a:endParaRPr sz="2025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609600" y="4686300"/>
            <a:ext cx="10972800" cy="0"/>
          </a:xfrm>
          <a:prstGeom prst="line">
            <a:avLst/>
          </a:prstGeom>
          <a:noFill/>
          <a:ln w="19050">
            <a:solidFill>
              <a:srgbClr val="CEDCE5"/>
            </a:solidFill>
            <a:prstDash val="solid"/>
          </a:ln>
        </p:spPr>
      </p:sp>
      <p:sp>
        <p:nvSpPr>
          <p:cNvPr id="15" name="added-18-230"/>
          <p:cNvSpPr>
            <a:spLocks noGrp="1"/>
          </p:cNvSpPr>
          <p:nvPr/>
        </p:nvSpPr>
        <p:spPr>
          <a:xfrm>
            <a:off x="609600" y="5962650"/>
            <a:ext cx="109728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提前失败：按误差上界补计剩余过程与终点代价，避免短回合获得错误优势。</a:t>
            </a:r>
            <a:endParaRPr sz="1725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ext-151"/>
          <p:cNvSpPr>
            <a:spLocks noGrp="1"/>
          </p:cNvSpPr>
          <p:nvPr/>
        </p:nvSpPr>
        <p:spPr>
          <a:xfrm>
            <a:off x="609600" y="295275"/>
            <a:ext cx="981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附录 B  参考依据</a:t>
            </a:r>
            <a:endParaRPr sz="1650" b="1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" name="text-152"/>
          <p:cNvSpPr>
            <a:spLocks noGrp="1"/>
          </p:cNvSpPr>
          <p:nvPr/>
        </p:nvSpPr>
        <p:spPr>
          <a:xfrm>
            <a:off x="609600" y="800100"/>
            <a:ext cx="10972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6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资料来源与方法依据</a:t>
            </a:r>
            <a:endParaRPr sz="36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4" name="text-153"/>
          <p:cNvSpPr>
            <a:spLocks noGrp="1"/>
          </p:cNvSpPr>
          <p:nvPr/>
        </p:nvSpPr>
        <p:spPr>
          <a:xfrm>
            <a:off x="609600" y="157162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场景与项目选择来自附件及本轮讨论；方法文献不等于本项目的实验结论</a:t>
            </a:r>
            <a:endParaRPr sz="1800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5" name="text-154"/>
          <p:cNvSpPr>
            <a:spLocks noGrp="1"/>
          </p:cNvSpPr>
          <p:nvPr/>
        </p:nvSpPr>
        <p:spPr>
          <a:xfrm>
            <a:off x="609600" y="6496050"/>
            <a:ext cx="981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0" u="none">
                <a:solidFill>
                  <a:srgbClr val="596A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596A7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单探测车主动感知  /  研究方案讨论</a:t>
            </a:r>
            <a:endParaRPr sz="1575" b="0" u="none">
              <a:solidFill>
                <a:srgbClr val="596A7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text-155"/>
          <p:cNvSpPr>
            <a:spLocks noGrp="1"/>
          </p:cNvSpPr>
          <p:nvPr/>
        </p:nvSpPr>
        <p:spPr>
          <a:xfrm>
            <a:off x="10925175" y="6496050"/>
            <a:ext cx="657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75" b="0" u="none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u="none">
                <a:solidFill>
                  <a:srgbClr val="007E8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19</a:t>
            </a:r>
            <a:endParaRPr sz="1575" b="0" u="none">
              <a:solidFill>
                <a:srgbClr val="007E8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7" name="text-156"/>
          <p:cNvSpPr>
            <a:spLocks noGrp="1"/>
          </p:cNvSpPr>
          <p:nvPr/>
        </p:nvSpPr>
        <p:spPr>
          <a:xfrm>
            <a:off x="609600" y="2209800"/>
            <a:ext cx="30765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场景背景</a:t>
            </a:r>
            <a:endParaRPr sz="21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8" name="text-157"/>
          <p:cNvSpPr>
            <a:spLocks noGrp="1"/>
          </p:cNvSpPr>
          <p:nvPr/>
        </p:nvSpPr>
        <p:spPr>
          <a:xfrm>
            <a:off x="3876675" y="2209800"/>
            <a:ext cx="77057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hlinkClick r:id="rId1"/>
              </a:rPr>
              <a:t>数据匮乏路口与主动感知。</a:t>
            </a:r>
            <a:endParaRPr sz="1725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hlinkClick r:id="rId1"/>
            </a:endParaRPr>
          </a:p>
        </p:txBody>
      </p:sp>
      <p:sp>
        <p:nvSpPr>
          <p:cNvPr id="10" name="text-158"/>
          <p:cNvSpPr>
            <a:spLocks noGrp="1"/>
          </p:cNvSpPr>
          <p:nvPr/>
        </p:nvSpPr>
        <p:spPr>
          <a:xfrm>
            <a:off x="609600" y="2971800"/>
            <a:ext cx="30765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POMDP 与记忆</a:t>
            </a:r>
            <a:endParaRPr sz="21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text-159"/>
          <p:cNvSpPr>
            <a:spLocks noGrp="1"/>
          </p:cNvSpPr>
          <p:nvPr/>
        </p:nvSpPr>
        <p:spPr>
          <a:xfrm>
            <a:off x="3876675" y="2971800"/>
            <a:ext cx="77057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  <a:hlinkClick r:id="rId1"/>
              </a:rPr>
              <a:t>Hausknecht &amp; Stone, 2015. Deep Recurrent Q-Learning.</a:t>
            </a:r>
            <a:endParaRPr sz="1725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  <a:hlinkClick r:id="rId1"/>
            </a:endParaRPr>
          </a:p>
        </p:txBody>
      </p:sp>
      <p:sp>
        <p:nvSpPr>
          <p:cNvPr id="12" name="text-160"/>
          <p:cNvSpPr>
            <a:spLocks noGrp="1"/>
          </p:cNvSpPr>
          <p:nvPr/>
        </p:nvSpPr>
        <p:spPr>
          <a:xfrm>
            <a:off x="609600" y="3733800"/>
            <a:ext cx="30765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  <a:hlinkClick r:id="rId2"/>
              </a:rPr>
              <a:t>策略优化与动作约束</a:t>
            </a:r>
            <a:endParaRPr sz="21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  <a:hlinkClick r:id="rId2"/>
            </a:endParaRPr>
          </a:p>
        </p:txBody>
      </p:sp>
      <p:sp>
        <p:nvSpPr>
          <p:cNvPr id="14" name="text-161"/>
          <p:cNvSpPr>
            <a:spLocks noGrp="1"/>
          </p:cNvSpPr>
          <p:nvPr/>
        </p:nvSpPr>
        <p:spPr>
          <a:xfrm>
            <a:off x="3876675" y="3733800"/>
            <a:ext cx="77057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hlinkClick r:id="rId3"/>
              </a:rPr>
              <a:t>Schulman et al., 2017；Huang &amp; Ontañón, 2020.</a:t>
            </a:r>
            <a:endParaRPr sz="1725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hlinkClick r:id="rId3"/>
            </a:endParaRPr>
          </a:p>
        </p:txBody>
      </p:sp>
      <p:sp>
        <p:nvSpPr>
          <p:cNvPr id="15" name="text-162"/>
          <p:cNvSpPr>
            <a:spLocks noGrp="1"/>
          </p:cNvSpPr>
          <p:nvPr/>
        </p:nvSpPr>
        <p:spPr>
          <a:xfrm>
            <a:off x="609600" y="4495800"/>
            <a:ext cx="30765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交通仿真与交互</a:t>
            </a:r>
            <a:endParaRPr sz="21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16" name="text-163"/>
          <p:cNvSpPr>
            <a:spLocks noGrp="1"/>
          </p:cNvSpPr>
          <p:nvPr/>
        </p:nvSpPr>
        <p:spPr>
          <a:xfrm>
            <a:off x="3876675" y="4495800"/>
            <a:ext cx="77057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hlinkClick r:id="rId4"/>
              </a:rPr>
              <a:t>SUMO 官方文档：TraCI、Randomness、Safety。</a:t>
            </a:r>
            <a:endParaRPr sz="1725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hlinkClick r:id="rId4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rgbClr val="CEDCE5"/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609600" y="2847975"/>
            <a:ext cx="10972800" cy="0"/>
          </a:xfrm>
          <a:prstGeom prst="line">
            <a:avLst/>
          </a:prstGeom>
          <a:noFill/>
          <a:ln w="19050">
            <a:solidFill>
              <a:srgbClr val="CEDCE5"/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609600" y="3609975"/>
            <a:ext cx="10972800" cy="0"/>
          </a:xfrm>
          <a:prstGeom prst="line">
            <a:avLst/>
          </a:prstGeom>
          <a:noFill/>
          <a:ln w="19050">
            <a:solidFill>
              <a:srgbClr val="CEDCE5"/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09600" y="4371975"/>
            <a:ext cx="10972800" cy="0"/>
          </a:xfrm>
          <a:prstGeom prst="line">
            <a:avLst/>
          </a:prstGeom>
          <a:noFill/>
          <a:ln w="19050">
            <a:solidFill>
              <a:srgbClr val="CEDCE5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09600" y="5133975"/>
            <a:ext cx="10972800" cy="0"/>
          </a:xfrm>
          <a:prstGeom prst="line">
            <a:avLst/>
          </a:prstGeom>
          <a:noFill/>
          <a:ln w="19050">
            <a:solidFill>
              <a:srgbClr val="CEDCE5"/>
            </a:solidFill>
            <a:prstDash val="solid"/>
          </a:ln>
        </p:spPr>
      </p:sp>
      <p:sp>
        <p:nvSpPr>
          <p:cNvPr id="23" name="added-19-243"/>
          <p:cNvSpPr>
            <a:spLocks noGrp="1"/>
          </p:cNvSpPr>
          <p:nvPr/>
        </p:nvSpPr>
        <p:spPr>
          <a:xfrm>
            <a:off x="609600" y="5257800"/>
            <a:ext cx="30765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</a:rPr>
              <a:t>Decision Transformer</a:t>
            </a:r>
            <a:endParaRPr sz="2100" b="1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</a:endParaRPr>
          </a:p>
        </p:txBody>
      </p:sp>
      <p:sp>
        <p:nvSpPr>
          <p:cNvPr id="24" name="added-19-243"/>
          <p:cNvSpPr>
            <a:spLocks noGrp="1"/>
          </p:cNvSpPr>
          <p:nvPr/>
        </p:nvSpPr>
        <p:spPr>
          <a:xfrm>
            <a:off x="3876675" y="5257800"/>
            <a:ext cx="77057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 u="none">
                <a:solidFill>
                  <a:srgbClr val="18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u="none">
                <a:solidFill>
                  <a:srgbClr val="183047"/>
                </a:solidFill>
                <a:latin typeface="Microsoft YaHei" panose="020B0503020204020204" charset="-122"/>
                <a:ea typeface="Microsoft YaHei" panose="020B0503020204020204" charset="-122"/>
                <a:cs typeface="Noto Sans CJK SC"/>
                <a:hlinkClick r:id="rId5"/>
              </a:rPr>
              <a:t>Chen et al., 2021. Reinforcement Learning via Sequence Modeling.</a:t>
            </a:r>
            <a:endParaRPr sz="1725" b="0" u="none">
              <a:solidFill>
                <a:srgbClr val="183047"/>
              </a:solidFill>
              <a:latin typeface="Microsoft YaHei" panose="020B0503020204020204" charset="-122"/>
              <a:ea typeface="Microsoft YaHei" panose="020B0503020204020204" charset="-122"/>
              <a:cs typeface="Noto Sans CJK SC"/>
              <a:hlinkClick r:id="rId5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4460</Words>
  <Application>WPS 演示</Application>
  <PresentationFormat>Converted Presentation</PresentationFormat>
  <Paragraphs>637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SimSun</vt:lpstr>
      <vt:lpstr>Wingdings</vt:lpstr>
      <vt:lpstr>Noto Sans CJK SC</vt:lpstr>
      <vt:lpstr>AMGDT</vt:lpstr>
      <vt:lpstr>Microsoft YaHei</vt:lpstr>
      <vt:lpstr>SimHei</vt:lpstr>
      <vt:lpstr>Arial Unicode MS</vt:lpstr>
      <vt:lpstr>Calibri</vt:lpstr>
      <vt:lpstr>MS PGothic</vt:lpstr>
      <vt:lpstr>Noto Sans CJK SC</vt:lpstr>
      <vt:lpstr>Wonder Sans Bold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Luka</cp:lastModifiedBy>
  <cp:revision>6</cp:revision>
  <dcterms:created xsi:type="dcterms:W3CDTF">2026-09-09T02:21:00Z</dcterms:created>
  <dcterms:modified xsi:type="dcterms:W3CDTF">2026-09-10T06:54:13Z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9A5C822A04854A388295A54928AEB5B5_13</vt:lpwstr>
  </property>
</Properties>
</file>